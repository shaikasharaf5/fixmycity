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1" r:id="rId3"/>
    <p:sldId id="257" r:id="rId4"/>
    <p:sldId id="259" r:id="rId5"/>
    <p:sldId id="260" r:id="rId6"/>
    <p:sldId id="261" r:id="rId7"/>
    <p:sldId id="262" r:id="rId8"/>
    <p:sldId id="263" r:id="rId9"/>
    <p:sldId id="283" r:id="rId10"/>
    <p:sldId id="264" r:id="rId11"/>
    <p:sldId id="284" r:id="rId12"/>
    <p:sldId id="282" r:id="rId13"/>
    <p:sldId id="285" r:id="rId14"/>
    <p:sldId id="280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Asharaf" userId="c83d2d1ef47a9115" providerId="LiveId" clId="{84E25BA7-ABBA-4AC2-A700-EE3058F4F0D4}"/>
    <pc:docChg chg="undo custSel addSld modSld">
      <pc:chgData name="Shaik Asharaf" userId="c83d2d1ef47a9115" providerId="LiveId" clId="{84E25BA7-ABBA-4AC2-A700-EE3058F4F0D4}" dt="2026-08-30T11:10:33.311" v="2188" actId="1076"/>
      <pc:docMkLst>
        <pc:docMk/>
      </pc:docMkLst>
      <pc:sldChg chg="delSp modSp new mod">
        <pc:chgData name="Shaik Asharaf" userId="c83d2d1ef47a9115" providerId="LiveId" clId="{84E25BA7-ABBA-4AC2-A700-EE3058F4F0D4}" dt="2026-08-30T11:10:33.311" v="2188" actId="1076"/>
        <pc:sldMkLst>
          <pc:docMk/>
          <pc:sldMk cId="3319443937" sldId="285"/>
        </pc:sldMkLst>
        <pc:spChg chg="mod">
          <ac:chgData name="Shaik Asharaf" userId="c83d2d1ef47a9115" providerId="LiveId" clId="{84E25BA7-ABBA-4AC2-A700-EE3058F4F0D4}" dt="2026-08-30T11:10:33.311" v="2188" actId="1076"/>
          <ac:spMkLst>
            <pc:docMk/>
            <pc:sldMk cId="3319443937" sldId="285"/>
            <ac:spMk id="3" creationId="{52121EFA-2A0A-BA84-6269-311C2E92C3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4500" y="303884"/>
            <a:ext cx="486283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5385" y="460458"/>
            <a:ext cx="11048999" cy="44509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GOKARAJU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RANGARAJU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INSTITUTE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ENGINEERING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TECHNOLOGY</a:t>
            </a:r>
            <a:endParaRPr sz="2400" dirty="0">
              <a:latin typeface="Times New Roman"/>
              <a:cs typeface="Times New Roman"/>
            </a:endParaRPr>
          </a:p>
          <a:p>
            <a:pPr marR="916940" algn="ctr">
              <a:lnSpc>
                <a:spcPts val="3200"/>
              </a:lnSpc>
            </a:pPr>
            <a:r>
              <a:rPr sz="2700" dirty="0">
                <a:latin typeface="Times New Roman"/>
                <a:cs typeface="Times New Roman"/>
              </a:rPr>
              <a:t>Department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Computer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Science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5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Engineering</a:t>
            </a:r>
            <a:endParaRPr sz="2700" dirty="0">
              <a:latin typeface="Times New Roman"/>
              <a:cs typeface="Times New Roman"/>
            </a:endParaRPr>
          </a:p>
          <a:p>
            <a:pPr marR="917575" algn="ctr">
              <a:lnSpc>
                <a:spcPct val="100000"/>
              </a:lnSpc>
              <a:spcBef>
                <a:spcPts val="2960"/>
              </a:spcBef>
            </a:pPr>
            <a:r>
              <a:rPr sz="27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lang="en-IN" sz="2700" b="1" u="sng" dirty="0" err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ajor</a:t>
            </a:r>
            <a:r>
              <a:rPr sz="2700" b="1" u="sng" spc="-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Project</a:t>
            </a:r>
            <a:r>
              <a:rPr sz="2700" b="1" u="sng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7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Review-</a:t>
            </a:r>
            <a:r>
              <a:rPr lang="en-IN" sz="27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2700" dirty="0">
              <a:latin typeface="Times New Roman"/>
              <a:cs typeface="Times New Roman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FixMyCity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Civic Issue Reporting and Urban Decision Support System</a:t>
            </a:r>
          </a:p>
          <a:p>
            <a:pPr marR="1213485" algn="ctr">
              <a:lnSpc>
                <a:spcPct val="100000"/>
              </a:lnSpc>
              <a:spcBef>
                <a:spcPts val="835"/>
              </a:spcBef>
            </a:pPr>
            <a:r>
              <a:rPr lang="en-IN" sz="3000" dirty="0">
                <a:latin typeface="Times New Roman"/>
                <a:cs typeface="Times New Roman"/>
              </a:rPr>
              <a:t>    </a:t>
            </a:r>
            <a:r>
              <a:rPr sz="3000" dirty="0">
                <a:latin typeface="Times New Roman"/>
                <a:cs typeface="Times New Roman"/>
              </a:rPr>
              <a:t>Under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esteemed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guidance</a:t>
            </a:r>
            <a:r>
              <a:rPr sz="3000" spc="-9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of</a:t>
            </a:r>
            <a:br>
              <a:rPr lang="en-IN" sz="3000" spc="-25" dirty="0">
                <a:latin typeface="Times New Roman"/>
                <a:cs typeface="Times New Roman"/>
              </a:rPr>
            </a:br>
            <a:r>
              <a:rPr lang="en-IN" sz="3000" spc="-25" dirty="0">
                <a:latin typeface="Times New Roman"/>
                <a:cs typeface="Times New Roman"/>
              </a:rPr>
              <a:t>   </a:t>
            </a:r>
            <a:r>
              <a:rPr lang="en-IN" sz="3000" b="1" spc="-25" dirty="0">
                <a:latin typeface="Times New Roman"/>
                <a:cs typeface="Times New Roman"/>
              </a:rPr>
              <a:t>Dr P </a:t>
            </a:r>
            <a:r>
              <a:rPr lang="en-IN" sz="3000" b="1" spc="-25" dirty="0" err="1">
                <a:latin typeface="Times New Roman"/>
                <a:cs typeface="Times New Roman"/>
              </a:rPr>
              <a:t>Varaprasad</a:t>
            </a:r>
            <a:r>
              <a:rPr lang="en-IN" sz="3000" b="1" spc="-25" dirty="0">
                <a:latin typeface="Times New Roman"/>
                <a:cs typeface="Times New Roman"/>
              </a:rPr>
              <a:t> Rao</a:t>
            </a:r>
            <a:endParaRPr lang="en-US" sz="3200" b="1" i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279775" marR="4493895" algn="ctr">
              <a:lnSpc>
                <a:spcPts val="3400"/>
              </a:lnSpc>
              <a:spcBef>
                <a:spcPts val="560"/>
              </a:spcBef>
            </a:pPr>
            <a:r>
              <a:rPr lang="en-IN" sz="3000" b="1" spc="-1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Professor</a:t>
            </a:r>
            <a:endParaRPr sz="3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33400"/>
            <a:ext cx="1075385" cy="9640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10401" y="4911420"/>
            <a:ext cx="5122450" cy="1644014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2000" spc="-10" dirty="0">
                <a:latin typeface="Times New Roman"/>
                <a:cs typeface="Times New Roman"/>
              </a:rPr>
              <a:t>23241A05T</a:t>
            </a:r>
            <a:r>
              <a:rPr lang="en-IN" sz="2000" spc="-10" dirty="0">
                <a:latin typeface="Times New Roman"/>
                <a:cs typeface="Times New Roman"/>
              </a:rPr>
              <a:t>4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–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</a:t>
            </a:r>
            <a:r>
              <a:rPr lang="en-IN" sz="2000" spc="-20" dirty="0">
                <a:latin typeface="Times New Roman"/>
                <a:cs typeface="Times New Roman"/>
              </a:rPr>
              <a:t>HUVANESH NEERUKONDA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000" spc="-10" dirty="0">
                <a:latin typeface="Times New Roman"/>
                <a:cs typeface="Times New Roman"/>
              </a:rPr>
              <a:t>23241A05</a:t>
            </a:r>
            <a:r>
              <a:rPr lang="en-IN" sz="2000" spc="-10" dirty="0">
                <a:latin typeface="Times New Roman"/>
                <a:cs typeface="Times New Roman"/>
              </a:rPr>
              <a:t>X2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–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Times New Roman"/>
                <a:cs typeface="Times New Roman"/>
              </a:rPr>
              <a:t>P.MANIKANTA REDDY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000" spc="-10" dirty="0">
                <a:latin typeface="Times New Roman"/>
                <a:cs typeface="Times New Roman"/>
              </a:rPr>
              <a:t>23241A05</a:t>
            </a:r>
            <a:r>
              <a:rPr lang="en-IN" sz="2000" spc="-10" dirty="0">
                <a:latin typeface="Times New Roman"/>
                <a:cs typeface="Times New Roman"/>
              </a:rPr>
              <a:t>X3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–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lang="en-IN" sz="2000" spc="-10" dirty="0">
                <a:latin typeface="Times New Roman"/>
                <a:cs typeface="Times New Roman"/>
              </a:rPr>
              <a:t>PULI ANIRUDH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000" spc="-10" dirty="0">
                <a:latin typeface="Times New Roman"/>
                <a:cs typeface="Times New Roman"/>
              </a:rPr>
              <a:t>23241A05X</a:t>
            </a:r>
            <a:r>
              <a:rPr lang="en-IN" sz="2000" spc="-10" dirty="0">
                <a:latin typeface="Times New Roman"/>
                <a:cs typeface="Times New Roman"/>
              </a:rPr>
              <a:t>9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–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lang="en-IN" sz="2000" spc="-30" dirty="0">
                <a:latin typeface="Times New Roman"/>
                <a:cs typeface="Times New Roman"/>
              </a:rPr>
              <a:t>SHAIK ASHARAF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1709" y="4871591"/>
            <a:ext cx="1902460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latin typeface="Times New Roman"/>
                <a:cs typeface="Times New Roman"/>
              </a:rPr>
              <a:t>Batch</a:t>
            </a:r>
            <a:r>
              <a:rPr sz="2700" b="1" spc="-60" dirty="0">
                <a:latin typeface="Times New Roman"/>
                <a:cs typeface="Times New Roman"/>
              </a:rPr>
              <a:t> </a:t>
            </a:r>
            <a:r>
              <a:rPr sz="2700" b="1" spc="-10" dirty="0" err="1">
                <a:latin typeface="Times New Roman"/>
                <a:cs typeface="Times New Roman"/>
              </a:rPr>
              <a:t>No:E</a:t>
            </a:r>
            <a:r>
              <a:rPr lang="en-IN" sz="2700" b="1" spc="-10" dirty="0">
                <a:latin typeface="Times New Roman"/>
                <a:cs typeface="Times New Roman"/>
              </a:rPr>
              <a:t>8</a:t>
            </a:r>
            <a:endParaRPr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CFCBC4-1BC0-2C12-BA9A-953B39AD5B08}"/>
              </a:ext>
            </a:extLst>
          </p:cNvPr>
          <p:cNvSpPr txBox="1"/>
          <p:nvPr/>
        </p:nvSpPr>
        <p:spPr>
          <a:xfrm>
            <a:off x="457200" y="381000"/>
            <a:ext cx="5867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768EDC-78D7-7DFD-91A0-4D99089920C1}"/>
              </a:ext>
            </a:extLst>
          </p:cNvPr>
          <p:cNvSpPr txBox="1"/>
          <p:nvPr/>
        </p:nvSpPr>
        <p:spPr>
          <a:xfrm>
            <a:off x="524933" y="1524000"/>
            <a:ext cx="10972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marL="514350" indent="-514350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Identification</a:t>
            </a:r>
          </a:p>
          <a:p>
            <a:pPr marL="514350" indent="-514350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</a:t>
            </a:r>
          </a:p>
          <a:p>
            <a:pPr marL="514350" indent="-514350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388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4500" y="299260"/>
            <a:ext cx="30689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4499" y="1143000"/>
            <a:ext cx="10673101" cy="49167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urbanization has increased civic issues demands intelligent civic management beyond traditional complaint registration and tracking systems</a:t>
            </a:r>
          </a:p>
          <a:p>
            <a:pPr marL="355600" marR="508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focus on complaint registration and tracking, lacking intelligent analysis and data driven support for municipal decision making</a:t>
            </a:r>
          </a:p>
          <a:p>
            <a:pPr marL="355600" marR="508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FixMyCity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civic reporting and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explores </a:t>
            </a: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use of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GIS and ML to identify hotspots, recurring infrastructure failures, and citywide trends</a:t>
            </a:r>
          </a:p>
          <a:p>
            <a:pPr marL="355600" marR="508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supports environmental analytics predict pollution, seasonal issues, groundwater availability, and recommend sustainable municipal actions.</a:t>
            </a:r>
          </a:p>
          <a:p>
            <a:pPr marL="355600" marR="508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 algn="just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 improve municipal efficiency, transparency, citizen participation, and environmental sustainability by enabling proactive governance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733401"/>
              </p:ext>
            </p:extLst>
          </p:nvPr>
        </p:nvGraphicFramePr>
        <p:xfrm>
          <a:off x="457200" y="990600"/>
          <a:ext cx="11050269" cy="5368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9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2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Ref.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No.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4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Year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Authors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Approach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Observed Shortcomings/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 in The Paper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[1]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  <a:p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CitySolution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Complaining Task Distributive Mobile Application for Smart City Corporation using Deep Learning (2024)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Farhatun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Shama, Abdul Aziz, Lamisa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Bintee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Mizan Deya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2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 paper proposes a smart city complaint management application that enables citizens to report civic issues through a mobile platform. Complaint images are processed using deep learning techniques to automatically classify the reported issue.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support intelligent duplicate complaint detection, GIS hotspot analysis, or predictive analytics for recurring civic problems.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5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[2]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Smartreporter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A Crowdsourced Complaint Resolution System (2026)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Kurian Binu et al.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employs YOLO-based object detection to recognise infrastructure defects from uploaded images and provides real-time complaint tracking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mainly concentrates on complaint reporting and monitoring without citizen engagement, identifying spatial hotspots, perform duplicate complaint merging.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6D289A7-B8DD-7852-F0C2-1DC26AAC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541"/>
            <a:ext cx="6710700" cy="677108"/>
          </a:xfrm>
        </p:spPr>
        <p:txBody>
          <a:bodyPr/>
          <a:lstStyle/>
          <a:p>
            <a:r>
              <a:rPr lang="en-US" b="0" dirty="0">
                <a:ea typeface="Times New Roman"/>
                <a:sym typeface="Times New Roman"/>
              </a:rPr>
              <a:t>LITERATURE SURVEY</a:t>
            </a:r>
            <a:endParaRPr lang="en-IN" b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582544"/>
              </p:ext>
            </p:extLst>
          </p:nvPr>
        </p:nvGraphicFramePr>
        <p:xfrm>
          <a:off x="381000" y="587248"/>
          <a:ext cx="11049633" cy="5453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4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0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9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1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27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Ref.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No.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4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Year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Authors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Approach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623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Observed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Limitations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5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[3]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  <a:p>
                      <a:pPr marL="31115" marR="4445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 Road Damage Detection Challenge: State-of-the-Art Solutions 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31750" marR="3937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Deeksha Arya, Hiroya Maeda, Sanjay Kumar Ghosh, Durga Toshniwal, Hiroshi Omata, Takehiro Kashiyama, Yoshihide Sekimoto 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evaluates multiple deep learning object detection models for automatic road damage identification using large-scale benchmark datasets. 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research focuses exclusively on road damage detection and does not consider other urban infrastructure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5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[4]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IN"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IN"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Sentence-BERT: Sentence Embeddings using Siamese BERT Networks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endParaRPr lang="en-IN"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Nils Reimers, Iryna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Gurevych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OCR-based ingredient extraction from food labels and barcodes. Hybrid AI engine combining Retrieval-Augmented Generation (RAG) with a fine-tuned LLaMA-2 model for ingredient safety analysis</a:t>
                      </a: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focuses on analyzing packaged food labels and providing personalized dietary guidance. It does not support reporting citizen grievances.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122931"/>
              </p:ext>
            </p:extLst>
          </p:nvPr>
        </p:nvGraphicFramePr>
        <p:xfrm>
          <a:off x="457200" y="641127"/>
          <a:ext cx="11353801" cy="5549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3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9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Ref.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No.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4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Year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Authors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104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Approach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Observed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Limitations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0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[5]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Transferable Visual Models From Natural Language Supervision (CLIP) 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IN"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Alec Radford , Jong Wook Kim , Chris Hallacy , Aditya Ramesh , Gabriel Goh 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Sandhini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Agarwal , Girish Sastry , Amanda Askell 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Contrastive learning between image–text pairs using dual encoders (image + text). Evaluated via zero-shot transfer on tasks like ImageNet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</a:pP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Requires domain-specific prompts</a:t>
                      </a:r>
                    </a:p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 fine tuning for regulatory interpretation</a:t>
                      </a: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5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[6]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Platforms for Smart Cities: Concepts, Requirements, Challenges and a Unified Reference Architecture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Eduardo F. Nakamura, Artur Ziviani, Eduardo Santana et al.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1750" marR="161290" lvl="0" indent="0" defTabSz="914400" eaLnBrk="1" fontAlgn="auto" latinLnBrk="0" hangingPunct="1">
                        <a:lnSpc>
                          <a:spcPct val="14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1750" marR="161290">
                        <a:lnSpc>
                          <a:spcPct val="1411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presents a comprehensive reference architecture for smart city platforms by integrating Internet of Things (IoT), cloud computing, big data analytics, Geographic Information Systems (GIS), and urban services into a unified framework</a:t>
                      </a:r>
                      <a:r>
                        <a:rPr lang="en-IN" sz="1400" dirty="0"/>
                        <a:t>. 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marR="130175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Although the paper provides a strong architectural foundation for smart city platforms, it remains largely conceptual and does not propose decision support mechanisms.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58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184094"/>
              </p:ext>
            </p:extLst>
          </p:nvPr>
        </p:nvGraphicFramePr>
        <p:xfrm>
          <a:off x="565150" y="882650"/>
          <a:ext cx="11048362" cy="53206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6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2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4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46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Ref.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No.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4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Year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Authors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485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Approach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Observed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Limitations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0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[7]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IN"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IN"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GeoAI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Where Machine Learning and Big Data Converge in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GIScience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Wenwen Li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paper introduces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GeoAI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 an emerging research field that combines artificial intelligence, machine learning, and geospatial analytics for processing large-scale spatial datasets.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primarily focuses on the theoretical foundations and applications of </a:t>
                      </a:r>
                      <a:r>
                        <a:rPr lang="en-US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GeoAI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rather than developing a complete smart governance solution</a:t>
                      </a: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5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5" dirty="0">
                          <a:latin typeface="Times New Roman"/>
                          <a:cs typeface="Times New Roman"/>
                        </a:rPr>
                        <a:t>[8]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Smart Civic Complaint Management System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Suganthi C. et al.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proposed system applies artificial intelligence techniques to classify and manage civic complaints submitted by citizens through digital platforms.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concentrates on complaint processing after incidents occur and lacks predictive capabilities for seasonal civic problems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593114"/>
              </p:ext>
            </p:extLst>
          </p:nvPr>
        </p:nvGraphicFramePr>
        <p:xfrm>
          <a:off x="304800" y="721360"/>
          <a:ext cx="11506200" cy="5415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8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38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99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Ref.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No.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4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Year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Authors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31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Approach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449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Observed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Limitations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57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[9]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DeepAir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Hybrid Deep Learning Framework for Air Quality Forecasting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b="0" i="0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Shengdong Du; Tianrui Li; Yan Yang; Shi-Jinn Horng</a:t>
                      </a:r>
                      <a:endParaRPr sz="16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hybrid deep learning framework that combines meteorological observations, historical pollution measurements, and spatial information to forecast air quality with multiple deep learning architectures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oes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not consider citizen-generated complaints, municipal infrastructure information, or explainable policy recommendations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75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[10]</a:t>
                      </a: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Machine Learning Models for Groundwater Level Prediction and Uncertainty Analysis 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r>
                        <a:rPr lang="en-IN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6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Dawit </a:t>
                      </a:r>
                      <a:r>
                        <a:rPr lang="en-IN" sz="16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Kanito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Mohammed </a:t>
                      </a:r>
                      <a:r>
                        <a:rPr lang="en-IN" sz="16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Benaafi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;</a:t>
                      </a:r>
                    </a:p>
                    <a:p>
                      <a:r>
                        <a:rPr lang="en-IN" sz="1600" b="0" i="0" baseline="30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Husam Musa </a:t>
                      </a:r>
                      <a:r>
                        <a:rPr lang="en-IN" sz="16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Baalousha</a:t>
                      </a:r>
                      <a:endParaRPr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summarizes recent machine learning approaches for groundwater level prediction using Random Forest, Support Vector Regression, Artificial Neural Networks, LSTM, and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models.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reviewed studies mainly focus on groundwater prediction as an isolated hydrological problem and do not integrate urban infrastructure information.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8079C9CE-76F6-1FC0-0388-04711160D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262185"/>
              </p:ext>
            </p:extLst>
          </p:nvPr>
        </p:nvGraphicFramePr>
        <p:xfrm>
          <a:off x="304800" y="721360"/>
          <a:ext cx="11506200" cy="29277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0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8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38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99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Ref.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No.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4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Year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Authors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31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Approach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449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Observed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Limitations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57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6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[11]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Unified Approach to Interpreting Model Predictions (SHAP) 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Scott M. Lundberg, Su-In Lee</a:t>
                      </a:r>
                      <a:endParaRPr sz="16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unified intelligence framework that interprets machine learning predictions by assigning contribution scores to individual input features.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 provides explainability for machine learning models but does not offer domain specific decision-support mechanisms or urban governance applications.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5317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1000" y="195794"/>
            <a:ext cx="409765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/>
              <a:t>Proposed</a:t>
            </a:r>
            <a:r>
              <a:rPr b="0" spc="-215" dirty="0"/>
              <a:t> </a:t>
            </a:r>
            <a:r>
              <a:rPr b="0" spc="-10" dirty="0"/>
              <a:t>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0943C8-4A45-C62F-84D1-D70B168C555B}"/>
              </a:ext>
            </a:extLst>
          </p:cNvPr>
          <p:cNvSpPr txBox="1"/>
          <p:nvPr/>
        </p:nvSpPr>
        <p:spPr>
          <a:xfrm>
            <a:off x="457200" y="1066800"/>
            <a:ext cx="1036320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MERN-based civic management platform with WhatsApp chatbot integration for issue reporting.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Computer Vision, OCR, NLP, and Speech-to-Text to process multimedia complaints.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Machine Learning for issue prioritization, hotspot detection, seasonal prediction, and groundwater estimation.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GIS and public datasets to visualize complaints, environmental conditions, and city-wide risk zones.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AI-powered Decision Support System providing explainable recommendations and predictive analytics.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29F09-AE92-96D9-FADA-82B29498C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533400"/>
            <a:ext cx="10972800" cy="3477875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transparent complaint tracking, citizen participation, and intelligent resource allocation for municipal authorities.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groundwater recharge potential using rainfall, land use, vegetation, and groundwater datasets.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air pollution hotspots and generate AI-powered mitigation recommendations for municipal authorities.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3166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7156-36C7-0D19-1FF6-FF3C9A5A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E324B-A2C9-50C6-AB46-86A5173C5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219200"/>
            <a:ext cx="11049000" cy="4985980"/>
          </a:xfrm>
        </p:spPr>
        <p:txBody>
          <a:bodyPr/>
          <a:lstStyle/>
          <a:p>
            <a:pPr algn="just"/>
            <a:r>
              <a:rPr lang="en-IN" b="1" dirty="0"/>
              <a:t>[1]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Farhatun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Shama, Abdul Aziz, Lamisa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Bintee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Mizan Deya,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CitySolution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complaining task distributive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mobileapplication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smart city corporation using deep learning,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SoftwareX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Volume 27,2024,101829,ISSN 2352-7110,    https://doi.org/10.1016/j.softx.2024.101829.https://www.sciencedirect.com/science/article/pii/S2352711024002000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Kurian Binu, Vinay K, Midhun R, Athul V Pillai, Shereena Thampi, 2026,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Smartreporter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Crowdsourced Complaint Resolution System, INTERNATIONAL JOURNAL OF ENGINEERING RESEARCH &amp; TECHNOLOGY (IJERT) Volume 15, Issue 01 , January – 2026, 10.17577/IJERTV15IS010067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Arya, Deeksha, et al. "Global road damage detection: State-of-the-art solutions."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 IEEE international conference on big data (big data)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IEEE, 2020.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Reimers, Nils, and Iryna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Gurevych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"Sentence-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Sentence embeddings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siamese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-networks."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2019 conference on empirical methods in natural language processing and the 9th international joint conference on natural language processing (EMNLP-IJCNLP)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2019.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Radford, Alec, et al. "Learning transferable visual models from natural language supervision."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machine learning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PmLR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2021.</a:t>
            </a:r>
          </a:p>
        </p:txBody>
      </p:sp>
    </p:spTree>
    <p:extLst>
      <p:ext uri="{BB962C8B-B14F-4D97-AF65-F5344CB8AC3E}">
        <p14:creationId xmlns:p14="http://schemas.microsoft.com/office/powerpoint/2010/main" val="3629693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21EFA-2A0A-BA84-6269-311C2E92C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797510"/>
            <a:ext cx="10972800" cy="5262979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Santana, Eduardo Felipe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Zambom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 "Software platforms for smart cities: Concepts, requirements, challenges, and a unified reference architecture." 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arXiv:1609.08089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(2016).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Li, W., Goodchild, M. F., &amp; Xu, B. (Eds.). (2021).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GeoAI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Where machine learning and big data converge in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GIScience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Springer. https://doi.org/10.1007/978-3-030-89879-5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Smart Civic Complaint Management System. (2026).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&amp; Extended Technologies Research (IJEETR)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4269-4281. https://doi.org/10.15662/IJEETR.2026.0802433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S. Du, T. Li, Y. Yang and S. -J. Horng, "Deep Air Quality Forecasting Using Hybrid Deep Learning Framework," in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Knowledge and Data Engineering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33, no. 6, pp. 2412-2424, 1 June 2021,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10.1109/TKDE.2019.2954510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Kanito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Benaafi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Baalousha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H.M. Machine Learning Models for Groundwater Level Prediction and Uncertainty Analysis 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Ruataniwha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Basin, New Zealand.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2025,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282. https://doi.org/10.3390/hydrology12110282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Lundberg, Scott M., and Su-In Lee. "A unified approach to interpreting model predictions." 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neural information processing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30 (2017).</a:t>
            </a:r>
          </a:p>
        </p:txBody>
      </p:sp>
    </p:spTree>
    <p:extLst>
      <p:ext uri="{BB962C8B-B14F-4D97-AF65-F5344CB8AC3E}">
        <p14:creationId xmlns:p14="http://schemas.microsoft.com/office/powerpoint/2010/main" val="3319443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25034" y="2849484"/>
            <a:ext cx="4742180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900" u="none" dirty="0"/>
              <a:t>Thank</a:t>
            </a:r>
            <a:r>
              <a:rPr sz="6900" u="none" spc="-395" dirty="0"/>
              <a:t> </a:t>
            </a:r>
            <a:r>
              <a:rPr sz="6900" u="none" spc="-740" dirty="0"/>
              <a:t>Y</a:t>
            </a:r>
            <a:r>
              <a:rPr sz="6900" u="none" spc="30" dirty="0"/>
              <a:t>o</a:t>
            </a:r>
            <a:r>
              <a:rPr sz="6900" u="none" spc="35" dirty="0"/>
              <a:t>u</a:t>
            </a:r>
            <a:r>
              <a:rPr sz="6900" u="none" spc="25" dirty="0"/>
              <a:t>!!</a:t>
            </a:r>
            <a:endParaRPr sz="6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1056</TotalTime>
  <Words>1676</Words>
  <Application>Microsoft Office PowerPoint</Application>
  <PresentationFormat>Widescreen</PresentationFormat>
  <Paragraphs>265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ABSTRACT</vt:lpstr>
      <vt:lpstr>LITERATURE SURVEY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Proposed System</vt:lpstr>
      <vt:lpstr>PowerPoint Presentation</vt:lpstr>
      <vt:lpstr>REFERENCES</vt:lpstr>
      <vt:lpstr>PowerPoint Presentation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Review-2</dc:title>
  <cp:lastModifiedBy>Shaik Asharaf</cp:lastModifiedBy>
  <cp:revision>2</cp:revision>
  <dcterms:created xsi:type="dcterms:W3CDTF">2026-03-24T14:58:21Z</dcterms:created>
  <dcterms:modified xsi:type="dcterms:W3CDTF">2026-08-30T11:10:42Z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2026-03-24T00:00:00Z</vt:filetime>
  </property>
  <property fmtid="{D5CDD505-2E9C-101B-9397-08002B2CF9AE}" pid="3" name="Creator">
    <vt:lpwstr>Keynote</vt:lpwstr>
  </property>
  <property fmtid="{D5CDD505-2E9C-101B-9397-08002B2CF9AE}" pid="4" name="LastSaved">
    <vt:filetime>2026-03-24T00:00:00Z</vt:filetime>
  </property>
  <property fmtid="{D5CDD505-2E9C-101B-9397-08002B2CF9AE}" pid="5" name="Producer">
    <vt:lpwstr>macOS Version 26.3 (Build 25D125) Quartz PDFContext</vt:lpwstr>
  </property>
</Properties>
</file>