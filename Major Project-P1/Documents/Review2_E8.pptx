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311" r:id="rId3"/>
    <p:sldId id="312" r:id="rId4"/>
    <p:sldId id="261" r:id="rId5"/>
    <p:sldId id="281" r:id="rId6"/>
    <p:sldId id="313" r:id="rId7"/>
    <p:sldId id="302" r:id="rId8"/>
    <p:sldId id="317" r:id="rId9"/>
    <p:sldId id="303" r:id="rId10"/>
    <p:sldId id="318" r:id="rId11"/>
    <p:sldId id="301" r:id="rId12"/>
    <p:sldId id="296" r:id="rId13"/>
    <p:sldId id="314" r:id="rId14"/>
    <p:sldId id="305" r:id="rId15"/>
    <p:sldId id="304" r:id="rId16"/>
    <p:sldId id="306" r:id="rId17"/>
    <p:sldId id="319" r:id="rId18"/>
    <p:sldId id="307" r:id="rId19"/>
    <p:sldId id="323" r:id="rId20"/>
    <p:sldId id="321" r:id="rId21"/>
    <p:sldId id="309" r:id="rId22"/>
    <p:sldId id="322" r:id="rId23"/>
    <p:sldId id="286" r:id="rId24"/>
    <p:sldId id="316" r:id="rId25"/>
    <p:sldId id="310" r:id="rId26"/>
    <p:sldId id="29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8B4186-53C3-44DC-A222-FD7AD123AAB7}" v="143" dt="2026-08-31T01:04:54.4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76" autoAdjust="0"/>
    <p:restoredTop sz="94660"/>
  </p:normalViewPr>
  <p:slideViewPr>
    <p:cSldViewPr snapToGrid="0">
      <p:cViewPr varScale="1">
        <p:scale>
          <a:sx n="95" d="100"/>
          <a:sy n="95" d="100"/>
        </p:scale>
        <p:origin x="5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k Asharaf" userId="c83d2d1ef47a9115" providerId="LiveId" clId="{84E25BA7-ABBA-4AC2-A700-EE3058F4F0D4}"/>
    <pc:docChg chg="undo custSel addSld delSld modSld">
      <pc:chgData name="Shaik Asharaf" userId="c83d2d1ef47a9115" providerId="LiveId" clId="{84E25BA7-ABBA-4AC2-A700-EE3058F4F0D4}" dt="2026-08-31T01:04:54.419" v="2082"/>
      <pc:docMkLst>
        <pc:docMk/>
      </pc:docMkLst>
      <pc:sldChg chg="modSp mod">
        <pc:chgData name="Shaik Asharaf" userId="c83d2d1ef47a9115" providerId="LiveId" clId="{84E25BA7-ABBA-4AC2-A700-EE3058F4F0D4}" dt="2026-08-30T23:20:44.892" v="1840" actId="255"/>
        <pc:sldMkLst>
          <pc:docMk/>
          <pc:sldMk cId="2267418309" sldId="256"/>
        </pc:sldMkLst>
        <pc:spChg chg="mod">
          <ac:chgData name="Shaik Asharaf" userId="c83d2d1ef47a9115" providerId="LiveId" clId="{84E25BA7-ABBA-4AC2-A700-EE3058F4F0D4}" dt="2026-08-30T23:20:44.892" v="1840" actId="255"/>
          <ac:spMkLst>
            <pc:docMk/>
            <pc:sldMk cId="2267418309" sldId="256"/>
            <ac:spMk id="3" creationId="{00000000-0000-0000-0000-000000000000}"/>
          </ac:spMkLst>
        </pc:spChg>
      </pc:sldChg>
      <pc:sldChg chg="modSp mod">
        <pc:chgData name="Shaik Asharaf" userId="c83d2d1ef47a9115" providerId="LiveId" clId="{84E25BA7-ABBA-4AC2-A700-EE3058F4F0D4}" dt="2026-08-30T11:08:39.843" v="683" actId="123"/>
        <pc:sldMkLst>
          <pc:docMk/>
          <pc:sldMk cId="321434602" sldId="261"/>
        </pc:sldMkLst>
        <pc:spChg chg="mod">
          <ac:chgData name="Shaik Asharaf" userId="c83d2d1ef47a9115" providerId="LiveId" clId="{84E25BA7-ABBA-4AC2-A700-EE3058F4F0D4}" dt="2026-08-30T11:00:41.787" v="380" actId="1076"/>
          <ac:spMkLst>
            <pc:docMk/>
            <pc:sldMk cId="321434602" sldId="261"/>
            <ac:spMk id="2" creationId="{00000000-0000-0000-0000-000000000000}"/>
          </ac:spMkLst>
        </pc:spChg>
        <pc:spChg chg="mod">
          <ac:chgData name="Shaik Asharaf" userId="c83d2d1ef47a9115" providerId="LiveId" clId="{84E25BA7-ABBA-4AC2-A700-EE3058F4F0D4}" dt="2026-08-30T11:08:39.843" v="683" actId="123"/>
          <ac:spMkLst>
            <pc:docMk/>
            <pc:sldMk cId="321434602" sldId="261"/>
            <ac:spMk id="3" creationId="{00000000-0000-0000-0000-000000000000}"/>
          </ac:spMkLst>
        </pc:spChg>
      </pc:sldChg>
      <pc:sldChg chg="modSp mod">
        <pc:chgData name="Shaik Asharaf" userId="c83d2d1ef47a9115" providerId="LiveId" clId="{84E25BA7-ABBA-4AC2-A700-EE3058F4F0D4}" dt="2026-08-30T11:26:52.574" v="708" actId="255"/>
        <pc:sldMkLst>
          <pc:docMk/>
          <pc:sldMk cId="2325176865" sldId="281"/>
        </pc:sldMkLst>
        <pc:spChg chg="mod">
          <ac:chgData name="Shaik Asharaf" userId="c83d2d1ef47a9115" providerId="LiveId" clId="{84E25BA7-ABBA-4AC2-A700-EE3058F4F0D4}" dt="2026-08-30T11:23:30.715" v="696" actId="1076"/>
          <ac:spMkLst>
            <pc:docMk/>
            <pc:sldMk cId="2325176865" sldId="281"/>
            <ac:spMk id="2" creationId="{00000000-0000-0000-0000-000000000000}"/>
          </ac:spMkLst>
        </pc:spChg>
        <pc:spChg chg="mod">
          <ac:chgData name="Shaik Asharaf" userId="c83d2d1ef47a9115" providerId="LiveId" clId="{84E25BA7-ABBA-4AC2-A700-EE3058F4F0D4}" dt="2026-08-30T11:26:52.574" v="708" actId="255"/>
          <ac:spMkLst>
            <pc:docMk/>
            <pc:sldMk cId="2325176865" sldId="281"/>
            <ac:spMk id="4" creationId="{2B576164-65EE-99C1-CE74-F5F939B23E1D}"/>
          </ac:spMkLst>
        </pc:spChg>
      </pc:sldChg>
      <pc:sldChg chg="modSp mod">
        <pc:chgData name="Shaik Asharaf" userId="c83d2d1ef47a9115" providerId="LiveId" clId="{84E25BA7-ABBA-4AC2-A700-EE3058F4F0D4}" dt="2026-08-31T00:56:22.240" v="2032" actId="1076"/>
        <pc:sldMkLst>
          <pc:docMk/>
          <pc:sldMk cId="1834864502" sldId="286"/>
        </pc:sldMkLst>
        <pc:spChg chg="mod">
          <ac:chgData name="Shaik Asharaf" userId="c83d2d1ef47a9115" providerId="LiveId" clId="{84E25BA7-ABBA-4AC2-A700-EE3058F4F0D4}" dt="2026-08-30T14:34:16.295" v="1432" actId="1076"/>
          <ac:spMkLst>
            <pc:docMk/>
            <pc:sldMk cId="1834864502" sldId="286"/>
            <ac:spMk id="2" creationId="{00000000-0000-0000-0000-000000000000}"/>
          </ac:spMkLst>
        </pc:spChg>
        <pc:spChg chg="mod">
          <ac:chgData name="Shaik Asharaf" userId="c83d2d1ef47a9115" providerId="LiveId" clId="{84E25BA7-ABBA-4AC2-A700-EE3058F4F0D4}" dt="2026-08-31T00:56:22.240" v="2032" actId="1076"/>
          <ac:spMkLst>
            <pc:docMk/>
            <pc:sldMk cId="1834864502" sldId="286"/>
            <ac:spMk id="3" creationId="{00000000-0000-0000-0000-000000000000}"/>
          </ac:spMkLst>
        </pc:spChg>
      </pc:sldChg>
      <pc:sldChg chg="modSp mod">
        <pc:chgData name="Shaik Asharaf" userId="c83d2d1ef47a9115" providerId="LiveId" clId="{84E25BA7-ABBA-4AC2-A700-EE3058F4F0D4}" dt="2026-08-30T13:50:09.239" v="1323" actId="14100"/>
        <pc:sldMkLst>
          <pc:docMk/>
          <pc:sldMk cId="1016662988" sldId="296"/>
        </pc:sldMkLst>
        <pc:spChg chg="mod">
          <ac:chgData name="Shaik Asharaf" userId="c83d2d1ef47a9115" providerId="LiveId" clId="{84E25BA7-ABBA-4AC2-A700-EE3058F4F0D4}" dt="2026-08-30T13:40:20.791" v="1212" actId="1076"/>
          <ac:spMkLst>
            <pc:docMk/>
            <pc:sldMk cId="1016662988" sldId="296"/>
            <ac:spMk id="2" creationId="{71DAF607-E77F-E930-EDBC-F849E9DDDF38}"/>
          </ac:spMkLst>
        </pc:spChg>
        <pc:graphicFrameChg chg="mod modGraphic">
          <ac:chgData name="Shaik Asharaf" userId="c83d2d1ef47a9115" providerId="LiveId" clId="{84E25BA7-ABBA-4AC2-A700-EE3058F4F0D4}" dt="2026-08-30T13:50:09.239" v="1323" actId="14100"/>
          <ac:graphicFrameMkLst>
            <pc:docMk/>
            <pc:sldMk cId="1016662988" sldId="296"/>
            <ac:graphicFrameMk id="4" creationId="{E50BF53A-4673-99FE-A035-22693406291C}"/>
          </ac:graphicFrameMkLst>
        </pc:graphicFrameChg>
      </pc:sldChg>
      <pc:sldChg chg="modSp mod">
        <pc:chgData name="Shaik Asharaf" userId="c83d2d1ef47a9115" providerId="LiveId" clId="{84E25BA7-ABBA-4AC2-A700-EE3058F4F0D4}" dt="2026-08-30T12:11:00.286" v="1180" actId="20577"/>
        <pc:sldMkLst>
          <pc:docMk/>
          <pc:sldMk cId="1886583673" sldId="301"/>
        </pc:sldMkLst>
        <pc:spChg chg="mod">
          <ac:chgData name="Shaik Asharaf" userId="c83d2d1ef47a9115" providerId="LiveId" clId="{84E25BA7-ABBA-4AC2-A700-EE3058F4F0D4}" dt="2026-08-30T12:07:07.805" v="1170" actId="1076"/>
          <ac:spMkLst>
            <pc:docMk/>
            <pc:sldMk cId="1886583673" sldId="301"/>
            <ac:spMk id="4" creationId="{B15A8C8C-73A0-4224-D231-FDB4C4A517DF}"/>
          </ac:spMkLst>
        </pc:spChg>
        <pc:spChg chg="mod">
          <ac:chgData name="Shaik Asharaf" userId="c83d2d1ef47a9115" providerId="LiveId" clId="{84E25BA7-ABBA-4AC2-A700-EE3058F4F0D4}" dt="2026-08-30T12:11:00.286" v="1180" actId="20577"/>
          <ac:spMkLst>
            <pc:docMk/>
            <pc:sldMk cId="1886583673" sldId="301"/>
            <ac:spMk id="5" creationId="{0971C9BD-86B2-85C6-03F7-2B0852B0FABE}"/>
          </ac:spMkLst>
        </pc:spChg>
      </pc:sldChg>
      <pc:sldChg chg="modSp mod">
        <pc:chgData name="Shaik Asharaf" userId="c83d2d1ef47a9115" providerId="LiveId" clId="{84E25BA7-ABBA-4AC2-A700-EE3058F4F0D4}" dt="2026-08-31T01:04:22.690" v="2078"/>
        <pc:sldMkLst>
          <pc:docMk/>
          <pc:sldMk cId="3518456116" sldId="302"/>
        </pc:sldMkLst>
        <pc:spChg chg="mod">
          <ac:chgData name="Shaik Asharaf" userId="c83d2d1ef47a9115" providerId="LiveId" clId="{84E25BA7-ABBA-4AC2-A700-EE3058F4F0D4}" dt="2026-08-30T11:45:50.258" v="776" actId="1076"/>
          <ac:spMkLst>
            <pc:docMk/>
            <pc:sldMk cId="3518456116" sldId="302"/>
            <ac:spMk id="2" creationId="{537EB670-94CC-49EE-5540-DAF0B9D34583}"/>
          </ac:spMkLst>
        </pc:spChg>
        <pc:graphicFrameChg chg="mod modGraphic">
          <ac:chgData name="Shaik Asharaf" userId="c83d2d1ef47a9115" providerId="LiveId" clId="{84E25BA7-ABBA-4AC2-A700-EE3058F4F0D4}" dt="2026-08-31T01:04:22.690" v="2078"/>
          <ac:graphicFrameMkLst>
            <pc:docMk/>
            <pc:sldMk cId="3518456116" sldId="302"/>
            <ac:graphicFrameMk id="4" creationId="{E338F8E2-4226-9357-194A-942427DB0573}"/>
          </ac:graphicFrameMkLst>
        </pc:graphicFrameChg>
      </pc:sldChg>
      <pc:sldChg chg="modSp mod">
        <pc:chgData name="Shaik Asharaf" userId="c83d2d1ef47a9115" providerId="LiveId" clId="{84E25BA7-ABBA-4AC2-A700-EE3058F4F0D4}" dt="2026-08-30T11:59:30.543" v="993" actId="14100"/>
        <pc:sldMkLst>
          <pc:docMk/>
          <pc:sldMk cId="927728686" sldId="303"/>
        </pc:sldMkLst>
        <pc:spChg chg="mod">
          <ac:chgData name="Shaik Asharaf" userId="c83d2d1ef47a9115" providerId="LiveId" clId="{84E25BA7-ABBA-4AC2-A700-EE3058F4F0D4}" dt="2026-08-30T11:54:55.897" v="843" actId="1076"/>
          <ac:spMkLst>
            <pc:docMk/>
            <pc:sldMk cId="927728686" sldId="303"/>
            <ac:spMk id="2" creationId="{54F7804D-6036-45EE-514F-87D111B92DD4}"/>
          </ac:spMkLst>
        </pc:spChg>
        <pc:graphicFrameChg chg="mod modGraphic">
          <ac:chgData name="Shaik Asharaf" userId="c83d2d1ef47a9115" providerId="LiveId" clId="{84E25BA7-ABBA-4AC2-A700-EE3058F4F0D4}" dt="2026-08-30T11:59:30.543" v="993" actId="14100"/>
          <ac:graphicFrameMkLst>
            <pc:docMk/>
            <pc:sldMk cId="927728686" sldId="303"/>
            <ac:graphicFrameMk id="4" creationId="{7F0C14F3-7718-5108-0AED-5B7EA48444E9}"/>
          </ac:graphicFrameMkLst>
        </pc:graphicFrameChg>
      </pc:sldChg>
      <pc:sldChg chg="modSp mod">
        <pc:chgData name="Shaik Asharaf" userId="c83d2d1ef47a9115" providerId="LiveId" clId="{84E25BA7-ABBA-4AC2-A700-EE3058F4F0D4}" dt="2026-08-30T14:24:21.468" v="1414" actId="20577"/>
        <pc:sldMkLst>
          <pc:docMk/>
          <pc:sldMk cId="3242184662" sldId="304"/>
        </pc:sldMkLst>
        <pc:spChg chg="mod">
          <ac:chgData name="Shaik Asharaf" userId="c83d2d1ef47a9115" providerId="LiveId" clId="{84E25BA7-ABBA-4AC2-A700-EE3058F4F0D4}" dt="2026-08-30T14:21:36.329" v="1328" actId="1076"/>
          <ac:spMkLst>
            <pc:docMk/>
            <pc:sldMk cId="3242184662" sldId="304"/>
            <ac:spMk id="2" creationId="{92DE2A82-CF08-C713-7759-269227A8AF3C}"/>
          </ac:spMkLst>
        </pc:spChg>
        <pc:spChg chg="mod">
          <ac:chgData name="Shaik Asharaf" userId="c83d2d1ef47a9115" providerId="LiveId" clId="{84E25BA7-ABBA-4AC2-A700-EE3058F4F0D4}" dt="2026-08-30T14:24:21.468" v="1414" actId="20577"/>
          <ac:spMkLst>
            <pc:docMk/>
            <pc:sldMk cId="3242184662" sldId="304"/>
            <ac:spMk id="3" creationId="{0F9242B5-01F7-DFAB-FADB-26982BB86038}"/>
          </ac:spMkLst>
        </pc:spChg>
      </pc:sldChg>
      <pc:sldChg chg="addSp delSp modSp mod">
        <pc:chgData name="Shaik Asharaf" userId="c83d2d1ef47a9115" providerId="LiveId" clId="{84E25BA7-ABBA-4AC2-A700-EE3058F4F0D4}" dt="2026-08-31T00:10:44.638" v="1879" actId="14100"/>
        <pc:sldMkLst>
          <pc:docMk/>
          <pc:sldMk cId="1159564327" sldId="305"/>
        </pc:sldMkLst>
        <pc:spChg chg="add del mod">
          <ac:chgData name="Shaik Asharaf" userId="c83d2d1ef47a9115" providerId="LiveId" clId="{84E25BA7-ABBA-4AC2-A700-EE3058F4F0D4}" dt="2026-08-31T00:10:35.827" v="1877" actId="22"/>
          <ac:spMkLst>
            <pc:docMk/>
            <pc:sldMk cId="1159564327" sldId="305"/>
            <ac:spMk id="3" creationId="{D3895035-1E78-53B0-AA7A-465813DED367}"/>
          </ac:spMkLst>
        </pc:spChg>
        <pc:picChg chg="add mod ord">
          <ac:chgData name="Shaik Asharaf" userId="c83d2d1ef47a9115" providerId="LiveId" clId="{84E25BA7-ABBA-4AC2-A700-EE3058F4F0D4}" dt="2026-08-31T00:10:44.638" v="1879" actId="14100"/>
          <ac:picMkLst>
            <pc:docMk/>
            <pc:sldMk cId="1159564327" sldId="305"/>
            <ac:picMk id="5" creationId="{ADE89175-8866-660C-8193-22B44B08443D}"/>
          </ac:picMkLst>
        </pc:picChg>
        <pc:picChg chg="del mod">
          <ac:chgData name="Shaik Asharaf" userId="c83d2d1ef47a9115" providerId="LiveId" clId="{84E25BA7-ABBA-4AC2-A700-EE3058F4F0D4}" dt="2026-08-30T13:50:21.783" v="1324" actId="478"/>
          <ac:picMkLst>
            <pc:docMk/>
            <pc:sldMk cId="1159564327" sldId="305"/>
            <ac:picMk id="7" creationId="{00000000-0000-0000-0000-000000000000}"/>
          </ac:picMkLst>
        </pc:picChg>
      </pc:sldChg>
      <pc:sldChg chg="addSp delSp modSp mod">
        <pc:chgData name="Shaik Asharaf" userId="c83d2d1ef47a9115" providerId="LiveId" clId="{84E25BA7-ABBA-4AC2-A700-EE3058F4F0D4}" dt="2026-08-30T19:31:27.050" v="1836" actId="1076"/>
        <pc:sldMkLst>
          <pc:docMk/>
          <pc:sldMk cId="1119420753" sldId="306"/>
        </pc:sldMkLst>
        <pc:spChg chg="mod">
          <ac:chgData name="Shaik Asharaf" userId="c83d2d1ef47a9115" providerId="LiveId" clId="{84E25BA7-ABBA-4AC2-A700-EE3058F4F0D4}" dt="2026-08-30T15:50:01.791" v="1794" actId="1076"/>
          <ac:spMkLst>
            <pc:docMk/>
            <pc:sldMk cId="1119420753" sldId="306"/>
            <ac:spMk id="2" creationId="{1813A780-4B8D-CFCE-C4D1-0AA8109BD5A0}"/>
          </ac:spMkLst>
        </pc:spChg>
        <pc:spChg chg="add del mod">
          <ac:chgData name="Shaik Asharaf" userId="c83d2d1ef47a9115" providerId="LiveId" clId="{84E25BA7-ABBA-4AC2-A700-EE3058F4F0D4}" dt="2026-08-30T19:30:08.628" v="1827" actId="22"/>
          <ac:spMkLst>
            <pc:docMk/>
            <pc:sldMk cId="1119420753" sldId="306"/>
            <ac:spMk id="5" creationId="{DEFB15CC-EA69-6BA5-63FB-FDD14650281B}"/>
          </ac:spMkLst>
        </pc:spChg>
        <pc:spChg chg="mod">
          <ac:chgData name="Shaik Asharaf" userId="c83d2d1ef47a9115" providerId="LiveId" clId="{84E25BA7-ABBA-4AC2-A700-EE3058F4F0D4}" dt="2026-08-30T15:50:07.525" v="1795" actId="1076"/>
          <ac:spMkLst>
            <pc:docMk/>
            <pc:sldMk cId="1119420753" sldId="306"/>
            <ac:spMk id="7" creationId="{25D016EC-1164-7F03-0B79-EE8A6D658ADE}"/>
          </ac:spMkLst>
        </pc:spChg>
        <pc:spChg chg="add del mod">
          <ac:chgData name="Shaik Asharaf" userId="c83d2d1ef47a9115" providerId="LiveId" clId="{84E25BA7-ABBA-4AC2-A700-EE3058F4F0D4}" dt="2026-08-30T19:31:21.965" v="1834" actId="22"/>
          <ac:spMkLst>
            <pc:docMk/>
            <pc:sldMk cId="1119420753" sldId="306"/>
            <ac:spMk id="10" creationId="{9D4B764E-644C-5E96-D29B-681E395977AA}"/>
          </ac:spMkLst>
        </pc:spChg>
        <pc:picChg chg="del">
          <ac:chgData name="Shaik Asharaf" userId="c83d2d1ef47a9115" providerId="LiveId" clId="{84E25BA7-ABBA-4AC2-A700-EE3058F4F0D4}" dt="2026-08-30T14:33:13.412" v="1425" actId="478"/>
          <ac:picMkLst>
            <pc:docMk/>
            <pc:sldMk cId="1119420753" sldId="306"/>
            <ac:picMk id="4" creationId="{00000000-0000-0000-0000-000000000000}"/>
          </ac:picMkLst>
        </pc:picChg>
        <pc:picChg chg="add del mod ord">
          <ac:chgData name="Shaik Asharaf" userId="c83d2d1ef47a9115" providerId="LiveId" clId="{84E25BA7-ABBA-4AC2-A700-EE3058F4F0D4}" dt="2026-08-30T19:31:12.954" v="1829" actId="478"/>
          <ac:picMkLst>
            <pc:docMk/>
            <pc:sldMk cId="1119420753" sldId="306"/>
            <ac:picMk id="8" creationId="{01253826-0F2D-89F5-3FB0-F9735EF465BB}"/>
          </ac:picMkLst>
        </pc:picChg>
        <pc:picChg chg="add del mod">
          <ac:chgData name="Shaik Asharaf" userId="c83d2d1ef47a9115" providerId="LiveId" clId="{84E25BA7-ABBA-4AC2-A700-EE3058F4F0D4}" dt="2026-08-30T19:31:20.500" v="1833" actId="22"/>
          <ac:picMkLst>
            <pc:docMk/>
            <pc:sldMk cId="1119420753" sldId="306"/>
            <ac:picMk id="12" creationId="{865FB855-4666-41F4-1F75-E723A018B35A}"/>
          </ac:picMkLst>
        </pc:picChg>
        <pc:picChg chg="add mod ord">
          <ac:chgData name="Shaik Asharaf" userId="c83d2d1ef47a9115" providerId="LiveId" clId="{84E25BA7-ABBA-4AC2-A700-EE3058F4F0D4}" dt="2026-08-30T19:31:27.050" v="1836" actId="1076"/>
          <ac:picMkLst>
            <pc:docMk/>
            <pc:sldMk cId="1119420753" sldId="306"/>
            <ac:picMk id="14" creationId="{A50A67D8-2BE3-FBA4-E729-5F89B21021C7}"/>
          </ac:picMkLst>
        </pc:picChg>
      </pc:sldChg>
      <pc:sldChg chg="modSp mod">
        <pc:chgData name="Shaik Asharaf" userId="c83d2d1ef47a9115" providerId="LiveId" clId="{84E25BA7-ABBA-4AC2-A700-EE3058F4F0D4}" dt="2026-08-30T14:28:49.527" v="1423" actId="113"/>
        <pc:sldMkLst>
          <pc:docMk/>
          <pc:sldMk cId="3551231892" sldId="307"/>
        </pc:sldMkLst>
        <pc:spChg chg="mod">
          <ac:chgData name="Shaik Asharaf" userId="c83d2d1ef47a9115" providerId="LiveId" clId="{84E25BA7-ABBA-4AC2-A700-EE3058F4F0D4}" dt="2026-08-30T14:28:13.306" v="1418" actId="1076"/>
          <ac:spMkLst>
            <pc:docMk/>
            <pc:sldMk cId="3551231892" sldId="307"/>
            <ac:spMk id="2" creationId="{C7909B71-24BE-55D3-09E4-BAA171CC0250}"/>
          </ac:spMkLst>
        </pc:spChg>
        <pc:spChg chg="mod">
          <ac:chgData name="Shaik Asharaf" userId="c83d2d1ef47a9115" providerId="LiveId" clId="{84E25BA7-ABBA-4AC2-A700-EE3058F4F0D4}" dt="2026-08-30T14:28:49.527" v="1423" actId="113"/>
          <ac:spMkLst>
            <pc:docMk/>
            <pc:sldMk cId="3551231892" sldId="307"/>
            <ac:spMk id="3" creationId="{5ACE257F-9A49-E700-A5CB-72E30AF67A8D}"/>
          </ac:spMkLst>
        </pc:spChg>
      </pc:sldChg>
      <pc:sldChg chg="modSp mod">
        <pc:chgData name="Shaik Asharaf" userId="c83d2d1ef47a9115" providerId="LiveId" clId="{84E25BA7-ABBA-4AC2-A700-EE3058F4F0D4}" dt="2026-08-31T00:17:54.933" v="1936" actId="14100"/>
        <pc:sldMkLst>
          <pc:docMk/>
          <pc:sldMk cId="318325544" sldId="309"/>
        </pc:sldMkLst>
        <pc:spChg chg="mod">
          <ac:chgData name="Shaik Asharaf" userId="c83d2d1ef47a9115" providerId="LiveId" clId="{84E25BA7-ABBA-4AC2-A700-EE3058F4F0D4}" dt="2026-08-30T23:58:53.718" v="1875" actId="1076"/>
          <ac:spMkLst>
            <pc:docMk/>
            <pc:sldMk cId="318325544" sldId="309"/>
            <ac:spMk id="2" creationId="{43A7466D-759D-10F2-D750-0BBB85C616A6}"/>
          </ac:spMkLst>
        </pc:spChg>
        <pc:spChg chg="mod">
          <ac:chgData name="Shaik Asharaf" userId="c83d2d1ef47a9115" providerId="LiveId" clId="{84E25BA7-ABBA-4AC2-A700-EE3058F4F0D4}" dt="2026-08-31T00:17:54.933" v="1936" actId="14100"/>
          <ac:spMkLst>
            <pc:docMk/>
            <pc:sldMk cId="318325544" sldId="309"/>
            <ac:spMk id="3" creationId="{C9DEAAB3-EB20-83E4-FF89-6EE47CA88076}"/>
          </ac:spMkLst>
        </pc:spChg>
      </pc:sldChg>
      <pc:sldChg chg="addSp delSp modSp mod">
        <pc:chgData name="Shaik Asharaf" userId="c83d2d1ef47a9115" providerId="LiveId" clId="{84E25BA7-ABBA-4AC2-A700-EE3058F4F0D4}" dt="2026-08-30T14:50:03.886" v="1789" actId="113"/>
        <pc:sldMkLst>
          <pc:docMk/>
          <pc:sldMk cId="2822125878" sldId="310"/>
        </pc:sldMkLst>
        <pc:spChg chg="del">
          <ac:chgData name="Shaik Asharaf" userId="c83d2d1ef47a9115" providerId="LiveId" clId="{84E25BA7-ABBA-4AC2-A700-EE3058F4F0D4}" dt="2026-08-30T14:42:43.716" v="1503" actId="478"/>
          <ac:spMkLst>
            <pc:docMk/>
            <pc:sldMk cId="2822125878" sldId="310"/>
            <ac:spMk id="2" creationId="{6BF5FB9D-AFDE-6480-8335-257423A7B218}"/>
          </ac:spMkLst>
        </pc:spChg>
        <pc:spChg chg="del mod">
          <ac:chgData name="Shaik Asharaf" userId="c83d2d1ef47a9115" providerId="LiveId" clId="{84E25BA7-ABBA-4AC2-A700-EE3058F4F0D4}" dt="2026-08-30T14:42:52.216" v="1506" actId="478"/>
          <ac:spMkLst>
            <pc:docMk/>
            <pc:sldMk cId="2822125878" sldId="310"/>
            <ac:spMk id="3" creationId="{D434AE05-1E49-0DA0-6718-AA56D1747295}"/>
          </ac:spMkLst>
        </pc:spChg>
        <pc:spChg chg="add mod">
          <ac:chgData name="Shaik Asharaf" userId="c83d2d1ef47a9115" providerId="LiveId" clId="{84E25BA7-ABBA-4AC2-A700-EE3058F4F0D4}" dt="2026-08-30T14:50:03.886" v="1789" actId="113"/>
          <ac:spMkLst>
            <pc:docMk/>
            <pc:sldMk cId="2822125878" sldId="310"/>
            <ac:spMk id="5" creationId="{6DAB4A02-B973-F595-AB30-5C9A00D4EBD9}"/>
          </ac:spMkLst>
        </pc:spChg>
      </pc:sldChg>
      <pc:sldChg chg="modSp mod">
        <pc:chgData name="Shaik Asharaf" userId="c83d2d1ef47a9115" providerId="LiveId" clId="{84E25BA7-ABBA-4AC2-A700-EE3058F4F0D4}" dt="2026-08-31T00:27:05.107" v="2028" actId="20577"/>
        <pc:sldMkLst>
          <pc:docMk/>
          <pc:sldMk cId="1521566905" sldId="311"/>
        </pc:sldMkLst>
        <pc:spChg chg="mod">
          <ac:chgData name="Shaik Asharaf" userId="c83d2d1ef47a9115" providerId="LiveId" clId="{84E25BA7-ABBA-4AC2-A700-EE3058F4F0D4}" dt="2026-08-30T10:15:31.995" v="198" actId="1076"/>
          <ac:spMkLst>
            <pc:docMk/>
            <pc:sldMk cId="1521566905" sldId="311"/>
            <ac:spMk id="2" creationId="{B629AB48-3C5A-66C1-90B7-1CB92D069B98}"/>
          </ac:spMkLst>
        </pc:spChg>
        <pc:spChg chg="mod">
          <ac:chgData name="Shaik Asharaf" userId="c83d2d1ef47a9115" providerId="LiveId" clId="{84E25BA7-ABBA-4AC2-A700-EE3058F4F0D4}" dt="2026-08-31T00:27:05.107" v="2028" actId="20577"/>
          <ac:spMkLst>
            <pc:docMk/>
            <pc:sldMk cId="1521566905" sldId="311"/>
            <ac:spMk id="3" creationId="{34F6C922-3A84-1B28-12AC-FEF50356A05D}"/>
          </ac:spMkLst>
        </pc:spChg>
      </pc:sldChg>
      <pc:sldChg chg="modSp mod">
        <pc:chgData name="Shaik Asharaf" userId="c83d2d1ef47a9115" providerId="LiveId" clId="{84E25BA7-ABBA-4AC2-A700-EE3058F4F0D4}" dt="2026-08-30T10:30:45.886" v="376" actId="113"/>
        <pc:sldMkLst>
          <pc:docMk/>
          <pc:sldMk cId="3645260717" sldId="312"/>
        </pc:sldMkLst>
        <pc:spChg chg="mod">
          <ac:chgData name="Shaik Asharaf" userId="c83d2d1ef47a9115" providerId="LiveId" clId="{84E25BA7-ABBA-4AC2-A700-EE3058F4F0D4}" dt="2026-08-30T10:30:45.886" v="376" actId="113"/>
          <ac:spMkLst>
            <pc:docMk/>
            <pc:sldMk cId="3645260717" sldId="312"/>
            <ac:spMk id="3" creationId="{B234B91F-0598-4377-5302-190CC9B001A8}"/>
          </ac:spMkLst>
        </pc:spChg>
      </pc:sldChg>
      <pc:sldChg chg="modSp mod">
        <pc:chgData name="Shaik Asharaf" userId="c83d2d1ef47a9115" providerId="LiveId" clId="{84E25BA7-ABBA-4AC2-A700-EE3058F4F0D4}" dt="2026-08-30T11:29:44.962" v="731" actId="20577"/>
        <pc:sldMkLst>
          <pc:docMk/>
          <pc:sldMk cId="1040173679" sldId="313"/>
        </pc:sldMkLst>
        <pc:spChg chg="mod">
          <ac:chgData name="Shaik Asharaf" userId="c83d2d1ef47a9115" providerId="LiveId" clId="{84E25BA7-ABBA-4AC2-A700-EE3058F4F0D4}" dt="2026-08-30T11:29:44.962" v="731" actId="20577"/>
          <ac:spMkLst>
            <pc:docMk/>
            <pc:sldMk cId="1040173679" sldId="313"/>
            <ac:spMk id="3" creationId="{CDCD4355-0DD7-E4B9-DCDE-45BA6A330E50}"/>
          </ac:spMkLst>
        </pc:spChg>
      </pc:sldChg>
      <pc:sldChg chg="modSp mod">
        <pc:chgData name="Shaik Asharaf" userId="c83d2d1ef47a9115" providerId="LiveId" clId="{84E25BA7-ABBA-4AC2-A700-EE3058F4F0D4}" dt="2026-08-30T13:49:16.129" v="1290" actId="113"/>
        <pc:sldMkLst>
          <pc:docMk/>
          <pc:sldMk cId="2053006141" sldId="314"/>
        </pc:sldMkLst>
        <pc:graphicFrameChg chg="mod modGraphic">
          <ac:chgData name="Shaik Asharaf" userId="c83d2d1ef47a9115" providerId="LiveId" clId="{84E25BA7-ABBA-4AC2-A700-EE3058F4F0D4}" dt="2026-08-30T13:49:16.129" v="1290" actId="113"/>
          <ac:graphicFrameMkLst>
            <pc:docMk/>
            <pc:sldMk cId="2053006141" sldId="314"/>
            <ac:graphicFrameMk id="4" creationId="{6954F22C-72F0-179B-2207-759EABE674C0}"/>
          </ac:graphicFrameMkLst>
        </pc:graphicFrameChg>
      </pc:sldChg>
      <pc:sldChg chg="del">
        <pc:chgData name="Shaik Asharaf" userId="c83d2d1ef47a9115" providerId="LiveId" clId="{84E25BA7-ABBA-4AC2-A700-EE3058F4F0D4}" dt="2026-08-30T14:24:43.949" v="1415" actId="47"/>
        <pc:sldMkLst>
          <pc:docMk/>
          <pc:sldMk cId="3345738940" sldId="315"/>
        </pc:sldMkLst>
      </pc:sldChg>
      <pc:sldChg chg="modSp mod">
        <pc:chgData name="Shaik Asharaf" userId="c83d2d1ef47a9115" providerId="LiveId" clId="{84E25BA7-ABBA-4AC2-A700-EE3058F4F0D4}" dt="2026-08-31T00:56:41.189" v="2036" actId="14100"/>
        <pc:sldMkLst>
          <pc:docMk/>
          <pc:sldMk cId="1536028772" sldId="316"/>
        </pc:sldMkLst>
        <pc:spChg chg="mod">
          <ac:chgData name="Shaik Asharaf" userId="c83d2d1ef47a9115" providerId="LiveId" clId="{84E25BA7-ABBA-4AC2-A700-EE3058F4F0D4}" dt="2026-08-31T00:56:41.189" v="2036" actId="14100"/>
          <ac:spMkLst>
            <pc:docMk/>
            <pc:sldMk cId="1536028772" sldId="316"/>
            <ac:spMk id="3" creationId="{8E32B546-1C79-AA24-3EC2-DA19B35249DB}"/>
          </ac:spMkLst>
        </pc:spChg>
      </pc:sldChg>
      <pc:sldChg chg="modSp mod">
        <pc:chgData name="Shaik Asharaf" userId="c83d2d1ef47a9115" providerId="LiveId" clId="{84E25BA7-ABBA-4AC2-A700-EE3058F4F0D4}" dt="2026-08-31T01:04:54.419" v="2082"/>
        <pc:sldMkLst>
          <pc:docMk/>
          <pc:sldMk cId="3402792761" sldId="317"/>
        </pc:sldMkLst>
        <pc:graphicFrameChg chg="mod modGraphic">
          <ac:chgData name="Shaik Asharaf" userId="c83d2d1ef47a9115" providerId="LiveId" clId="{84E25BA7-ABBA-4AC2-A700-EE3058F4F0D4}" dt="2026-08-31T01:04:54.419" v="2082"/>
          <ac:graphicFrameMkLst>
            <pc:docMk/>
            <pc:sldMk cId="3402792761" sldId="317"/>
            <ac:graphicFrameMk id="4" creationId="{72B2D00D-3FD4-2D91-51B7-17ED56D94C43}"/>
          </ac:graphicFrameMkLst>
        </pc:graphicFrameChg>
      </pc:sldChg>
      <pc:sldChg chg="modSp mod">
        <pc:chgData name="Shaik Asharaf" userId="c83d2d1ef47a9115" providerId="LiveId" clId="{84E25BA7-ABBA-4AC2-A700-EE3058F4F0D4}" dt="2026-08-30T12:06:13.272" v="1169" actId="20577"/>
        <pc:sldMkLst>
          <pc:docMk/>
          <pc:sldMk cId="2723187119" sldId="318"/>
        </pc:sldMkLst>
        <pc:graphicFrameChg chg="mod modGraphic">
          <ac:chgData name="Shaik Asharaf" userId="c83d2d1ef47a9115" providerId="LiveId" clId="{84E25BA7-ABBA-4AC2-A700-EE3058F4F0D4}" dt="2026-08-30T12:06:13.272" v="1169" actId="20577"/>
          <ac:graphicFrameMkLst>
            <pc:docMk/>
            <pc:sldMk cId="2723187119" sldId="318"/>
            <ac:graphicFrameMk id="4" creationId="{5751A0F5-04AD-1EC3-E1BB-C56C505D25D2}"/>
          </ac:graphicFrameMkLst>
        </pc:graphicFrameChg>
      </pc:sldChg>
      <pc:sldChg chg="addSp delSp modSp mod">
        <pc:chgData name="Shaik Asharaf" userId="c83d2d1ef47a9115" providerId="LiveId" clId="{84E25BA7-ABBA-4AC2-A700-EE3058F4F0D4}" dt="2026-08-31T00:15:34.201" v="1908" actId="1076"/>
        <pc:sldMkLst>
          <pc:docMk/>
          <pc:sldMk cId="2750428214" sldId="319"/>
        </pc:sldMkLst>
        <pc:spChg chg="mod">
          <ac:chgData name="Shaik Asharaf" userId="c83d2d1ef47a9115" providerId="LiveId" clId="{84E25BA7-ABBA-4AC2-A700-EE3058F4F0D4}" dt="2026-08-30T23:25:14.423" v="1845" actId="1076"/>
          <ac:spMkLst>
            <pc:docMk/>
            <pc:sldMk cId="2750428214" sldId="319"/>
            <ac:spMk id="7" creationId="{310C961D-B8F5-53E7-C2DB-9EF170BB9FFF}"/>
          </ac:spMkLst>
        </pc:spChg>
        <pc:spChg chg="add del">
          <ac:chgData name="Shaik Asharaf" userId="c83d2d1ef47a9115" providerId="LiveId" clId="{84E25BA7-ABBA-4AC2-A700-EE3058F4F0D4}" dt="2026-08-31T00:11:50.940" v="1888" actId="11529"/>
          <ac:spMkLst>
            <pc:docMk/>
            <pc:sldMk cId="2750428214" sldId="319"/>
            <ac:spMk id="8" creationId="{91A4EDBB-6827-DAE4-4147-B1988B3D6A43}"/>
          </ac:spMkLst>
        </pc:spChg>
        <pc:spChg chg="add del">
          <ac:chgData name="Shaik Asharaf" userId="c83d2d1ef47a9115" providerId="LiveId" clId="{84E25BA7-ABBA-4AC2-A700-EE3058F4F0D4}" dt="2026-08-31T00:12:09.420" v="1891" actId="11529"/>
          <ac:spMkLst>
            <pc:docMk/>
            <pc:sldMk cId="2750428214" sldId="319"/>
            <ac:spMk id="9" creationId="{B8AB5EAF-A3E2-1403-DCFB-80FB2104A0FB}"/>
          </ac:spMkLst>
        </pc:spChg>
        <pc:spChg chg="add del">
          <ac:chgData name="Shaik Asharaf" userId="c83d2d1ef47a9115" providerId="LiveId" clId="{84E25BA7-ABBA-4AC2-A700-EE3058F4F0D4}" dt="2026-08-31T00:12:43.257" v="1903" actId="11529"/>
          <ac:spMkLst>
            <pc:docMk/>
            <pc:sldMk cId="2750428214" sldId="319"/>
            <ac:spMk id="10" creationId="{EDD43E15-6D8F-3702-5541-5CB2FDABA066}"/>
          </ac:spMkLst>
        </pc:spChg>
        <pc:spChg chg="add del mod">
          <ac:chgData name="Shaik Asharaf" userId="c83d2d1ef47a9115" providerId="LiveId" clId="{84E25BA7-ABBA-4AC2-A700-EE3058F4F0D4}" dt="2026-08-31T00:12:42.878" v="1902" actId="767"/>
          <ac:spMkLst>
            <pc:docMk/>
            <pc:sldMk cId="2750428214" sldId="319"/>
            <ac:spMk id="11" creationId="{B760764B-EA3D-8275-F4AC-F809D7F174EF}"/>
          </ac:spMkLst>
        </pc:spChg>
        <pc:spChg chg="add del mod">
          <ac:chgData name="Shaik Asharaf" userId="c83d2d1ef47a9115" providerId="LiveId" clId="{84E25BA7-ABBA-4AC2-A700-EE3058F4F0D4}" dt="2026-08-31T00:12:42.053" v="1900" actId="767"/>
          <ac:spMkLst>
            <pc:docMk/>
            <pc:sldMk cId="2750428214" sldId="319"/>
            <ac:spMk id="12" creationId="{FBEE9FDD-DE59-7A50-5481-2934EF2ADBB0}"/>
          </ac:spMkLst>
        </pc:spChg>
        <pc:spChg chg="add del">
          <ac:chgData name="Shaik Asharaf" userId="c83d2d1ef47a9115" providerId="LiveId" clId="{84E25BA7-ABBA-4AC2-A700-EE3058F4F0D4}" dt="2026-08-31T00:12:58.225" v="1905" actId="11529"/>
          <ac:spMkLst>
            <pc:docMk/>
            <pc:sldMk cId="2750428214" sldId="319"/>
            <ac:spMk id="13" creationId="{853DA6A2-ABF1-5DDE-03FC-380203703D1D}"/>
          </ac:spMkLst>
        </pc:spChg>
        <pc:picChg chg="del">
          <ac:chgData name="Shaik Asharaf" userId="c83d2d1ef47a9115" providerId="LiveId" clId="{84E25BA7-ABBA-4AC2-A700-EE3058F4F0D4}" dt="2026-08-30T14:33:15.493" v="1426" actId="478"/>
          <ac:picMkLst>
            <pc:docMk/>
            <pc:sldMk cId="2750428214" sldId="319"/>
            <ac:picMk id="2" creationId="{00000000-0000-0000-0000-000000000000}"/>
          </ac:picMkLst>
        </pc:picChg>
        <pc:picChg chg="add del mod">
          <ac:chgData name="Shaik Asharaf" userId="c83d2d1ef47a9115" providerId="LiveId" clId="{84E25BA7-ABBA-4AC2-A700-EE3058F4F0D4}" dt="2026-08-30T23:25:25.439" v="1849" actId="478"/>
          <ac:picMkLst>
            <pc:docMk/>
            <pc:sldMk cId="2750428214" sldId="319"/>
            <ac:picMk id="4" creationId="{AC6318EC-D05B-99A9-279E-BC8547FFBD21}"/>
          </ac:picMkLst>
        </pc:picChg>
        <pc:picChg chg="add del mod">
          <ac:chgData name="Shaik Asharaf" userId="c83d2d1ef47a9115" providerId="LiveId" clId="{84E25BA7-ABBA-4AC2-A700-EE3058F4F0D4}" dt="2026-08-31T00:15:28.899" v="1907" actId="478"/>
          <ac:picMkLst>
            <pc:docMk/>
            <pc:sldMk cId="2750428214" sldId="319"/>
            <ac:picMk id="6" creationId="{63890DBE-9A67-F8C0-486D-30B8484678F3}"/>
          </ac:picMkLst>
        </pc:picChg>
        <pc:picChg chg="add mod">
          <ac:chgData name="Shaik Asharaf" userId="c83d2d1ef47a9115" providerId="LiveId" clId="{84E25BA7-ABBA-4AC2-A700-EE3058F4F0D4}" dt="2026-08-31T00:15:34.201" v="1908" actId="1076"/>
          <ac:picMkLst>
            <pc:docMk/>
            <pc:sldMk cId="2750428214" sldId="319"/>
            <ac:picMk id="15" creationId="{3E9363C7-1614-53FA-DE57-7BD31EA490EA}"/>
          </ac:picMkLst>
        </pc:picChg>
      </pc:sldChg>
      <pc:sldChg chg="addSp delSp modSp del mod">
        <pc:chgData name="Shaik Asharaf" userId="c83d2d1ef47a9115" providerId="LiveId" clId="{84E25BA7-ABBA-4AC2-A700-EE3058F4F0D4}" dt="2026-08-30T17:47:11.938" v="1826" actId="47"/>
        <pc:sldMkLst>
          <pc:docMk/>
          <pc:sldMk cId="1829285119" sldId="320"/>
        </pc:sldMkLst>
        <pc:spChg chg="add mod">
          <ac:chgData name="Shaik Asharaf" userId="c83d2d1ef47a9115" providerId="LiveId" clId="{84E25BA7-ABBA-4AC2-A700-EE3058F4F0D4}" dt="2026-08-30T14:33:19.155" v="1427" actId="478"/>
          <ac:spMkLst>
            <pc:docMk/>
            <pc:sldMk cId="1829285119" sldId="320"/>
            <ac:spMk id="3" creationId="{5C6046F8-B85C-9585-F231-2F89B8BF3C70}"/>
          </ac:spMkLst>
        </pc:spChg>
        <pc:picChg chg="del mod">
          <ac:chgData name="Shaik Asharaf" userId="c83d2d1ef47a9115" providerId="LiveId" clId="{84E25BA7-ABBA-4AC2-A700-EE3058F4F0D4}" dt="2026-08-30T14:33:19.155" v="1427" actId="478"/>
          <ac:picMkLst>
            <pc:docMk/>
            <pc:sldMk cId="1829285119" sldId="320"/>
            <ac:picMk id="6" creationId="{00000000-0000-0000-0000-000000000000}"/>
          </ac:picMkLst>
        </pc:picChg>
      </pc:sldChg>
      <pc:sldChg chg="addSp delSp modSp mod">
        <pc:chgData name="Shaik Asharaf" userId="c83d2d1ef47a9115" providerId="LiveId" clId="{84E25BA7-ABBA-4AC2-A700-EE3058F4F0D4}" dt="2026-08-30T16:17:35.897" v="1825" actId="14100"/>
        <pc:sldMkLst>
          <pc:docMk/>
          <pc:sldMk cId="1242382050" sldId="321"/>
        </pc:sldMkLst>
        <pc:spChg chg="add del mod">
          <ac:chgData name="Shaik Asharaf" userId="c83d2d1ef47a9115" providerId="LiveId" clId="{84E25BA7-ABBA-4AC2-A700-EE3058F4F0D4}" dt="2026-08-30T16:16:38.601" v="1814" actId="478"/>
          <ac:spMkLst>
            <pc:docMk/>
            <pc:sldMk cId="1242382050" sldId="321"/>
            <ac:spMk id="3" creationId="{7C76D22C-B290-2274-DF5A-1C6D2696C28C}"/>
          </ac:spMkLst>
        </pc:spChg>
        <pc:spChg chg="mod">
          <ac:chgData name="Shaik Asharaf" userId="c83d2d1ef47a9115" providerId="LiveId" clId="{84E25BA7-ABBA-4AC2-A700-EE3058F4F0D4}" dt="2026-08-30T16:16:00.265" v="1803" actId="1076"/>
          <ac:spMkLst>
            <pc:docMk/>
            <pc:sldMk cId="1242382050" sldId="321"/>
            <ac:spMk id="7" creationId="{49A7ABAA-CFEC-DE57-D5BB-BEDC0FC12267}"/>
          </ac:spMkLst>
        </pc:spChg>
        <pc:picChg chg="add del mod">
          <ac:chgData name="Shaik Asharaf" userId="c83d2d1ef47a9115" providerId="LiveId" clId="{84E25BA7-ABBA-4AC2-A700-EE3058F4F0D4}" dt="2026-08-30T16:17:09.577" v="1816" actId="478"/>
          <ac:picMkLst>
            <pc:docMk/>
            <pc:sldMk cId="1242382050" sldId="321"/>
            <ac:picMk id="5" creationId="{CB6F4A97-A0ED-5C09-200D-0F8A44286D6E}"/>
          </ac:picMkLst>
        </pc:picChg>
        <pc:picChg chg="add mod">
          <ac:chgData name="Shaik Asharaf" userId="c83d2d1ef47a9115" providerId="LiveId" clId="{84E25BA7-ABBA-4AC2-A700-EE3058F4F0D4}" dt="2026-08-30T16:17:35.897" v="1825" actId="14100"/>
          <ac:picMkLst>
            <pc:docMk/>
            <pc:sldMk cId="1242382050" sldId="321"/>
            <ac:picMk id="8" creationId="{DA76ECE6-9298-987B-9A96-E2A3EB8444A6}"/>
          </ac:picMkLst>
        </pc:picChg>
        <pc:picChg chg="del">
          <ac:chgData name="Shaik Asharaf" userId="c83d2d1ef47a9115" providerId="LiveId" clId="{84E25BA7-ABBA-4AC2-A700-EE3058F4F0D4}" dt="2026-08-30T14:33:21.230" v="1428" actId="478"/>
          <ac:picMkLst>
            <pc:docMk/>
            <pc:sldMk cId="1242382050" sldId="321"/>
            <ac:picMk id="13" creationId="{4CAA3E55-DE24-DDAF-10DE-87070DEA91A1}"/>
          </ac:picMkLst>
        </pc:picChg>
      </pc:sldChg>
      <pc:sldChg chg="modSp mod">
        <pc:chgData name="Shaik Asharaf" userId="c83d2d1ef47a9115" providerId="LiveId" clId="{84E25BA7-ABBA-4AC2-A700-EE3058F4F0D4}" dt="2026-08-31T00:20:40.499" v="1977" actId="20577"/>
        <pc:sldMkLst>
          <pc:docMk/>
          <pc:sldMk cId="418086903" sldId="322"/>
        </pc:sldMkLst>
        <pc:spChg chg="mod">
          <ac:chgData name="Shaik Asharaf" userId="c83d2d1ef47a9115" providerId="LiveId" clId="{84E25BA7-ABBA-4AC2-A700-EE3058F4F0D4}" dt="2026-08-31T00:20:40.499" v="1977" actId="20577"/>
          <ac:spMkLst>
            <pc:docMk/>
            <pc:sldMk cId="418086903" sldId="322"/>
            <ac:spMk id="3" creationId="{73D9862D-DFE1-479F-FFAC-13DF586690B6}"/>
          </ac:spMkLst>
        </pc:spChg>
      </pc:sldChg>
      <pc:sldChg chg="addSp delSp modSp new mod">
        <pc:chgData name="Shaik Asharaf" userId="c83d2d1ef47a9115" providerId="LiveId" clId="{84E25BA7-ABBA-4AC2-A700-EE3058F4F0D4}" dt="2026-08-31T00:57:36.720" v="2041" actId="1076"/>
        <pc:sldMkLst>
          <pc:docMk/>
          <pc:sldMk cId="900129072" sldId="323"/>
        </pc:sldMkLst>
        <pc:spChg chg="mod">
          <ac:chgData name="Shaik Asharaf" userId="c83d2d1ef47a9115" providerId="LiveId" clId="{84E25BA7-ABBA-4AC2-A700-EE3058F4F0D4}" dt="2026-08-31T00:57:36.720" v="2041" actId="1076"/>
          <ac:spMkLst>
            <pc:docMk/>
            <pc:sldMk cId="900129072" sldId="323"/>
            <ac:spMk id="2" creationId="{2B69021F-7FAC-F516-DD85-024531EC03C3}"/>
          </ac:spMkLst>
        </pc:spChg>
        <pc:spChg chg="del">
          <ac:chgData name="Shaik Asharaf" userId="c83d2d1ef47a9115" providerId="LiveId" clId="{84E25BA7-ABBA-4AC2-A700-EE3058F4F0D4}" dt="2026-08-31T00:24:18.495" v="1979" actId="22"/>
          <ac:spMkLst>
            <pc:docMk/>
            <pc:sldMk cId="900129072" sldId="323"/>
            <ac:spMk id="3" creationId="{77277134-C9BE-D25D-1BDB-6ABA4A53ED8B}"/>
          </ac:spMkLst>
        </pc:spChg>
        <pc:spChg chg="add del mod">
          <ac:chgData name="Shaik Asharaf" userId="c83d2d1ef47a9115" providerId="LiveId" clId="{84E25BA7-ABBA-4AC2-A700-EE3058F4F0D4}" dt="2026-08-31T00:26:00.809" v="1996"/>
          <ac:spMkLst>
            <pc:docMk/>
            <pc:sldMk cId="900129072" sldId="323"/>
            <ac:spMk id="6" creationId="{C3BDBE1F-4C0E-3892-751C-5E6BCA1510EE}"/>
          </ac:spMkLst>
        </pc:spChg>
        <pc:picChg chg="add mod ord">
          <ac:chgData name="Shaik Asharaf" userId="c83d2d1ef47a9115" providerId="LiveId" clId="{84E25BA7-ABBA-4AC2-A700-EE3058F4F0D4}" dt="2026-08-31T00:57:25.570" v="2040" actId="1076"/>
          <ac:picMkLst>
            <pc:docMk/>
            <pc:sldMk cId="900129072" sldId="323"/>
            <ac:picMk id="5" creationId="{8DAE816E-0B49-3891-AA3C-4A68BE5800D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5BD59-DC51-473A-BA5A-A2995812E7E9}" type="datetimeFigureOut">
              <a:rPr lang="en-IN" smtClean="0"/>
              <a:t>31-08-2026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9E37F-9013-4BCE-B9E0-01456EA94B78}" type="slidenum">
              <a:rPr lang="en-IN" smtClean="0"/>
              <a:t>‹#›</a:t>
            </a:fld>
            <a:endParaRPr lang="en-IN"/>
          </a:p>
        </p:txBody>
      </p:sp>
    </p:spTree>
    <p:extLst>
      <p:ext uri="{BB962C8B-B14F-4D97-AF65-F5344CB8AC3E}">
        <p14:creationId xmlns:p14="http://schemas.microsoft.com/office/powerpoint/2010/main" val="2723107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7505682-797F-44FC-A382-8B6C2659ED26}"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3505632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505682-797F-44FC-A382-8B6C2659ED26}"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194521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505682-797F-44FC-A382-8B6C2659ED26}"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47731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505682-797F-44FC-A382-8B6C2659ED26}"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2328205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505682-797F-44FC-A382-8B6C2659ED26}"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1569722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505682-797F-44FC-A382-8B6C2659ED26}"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223477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505682-797F-44FC-A382-8B6C2659ED26}"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712798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505682-797F-44FC-A382-8B6C2659ED26}"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48151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505682-797F-44FC-A382-8B6C2659ED26}"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3018246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505682-797F-44FC-A382-8B6C2659ED26}"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3044247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505682-797F-44FC-A382-8B6C2659ED26}"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21D784-9BF3-4C07-8329-5ECC9192B848}" type="slidenum">
              <a:rPr lang="en-US" smtClean="0"/>
              <a:t>‹#›</a:t>
            </a:fld>
            <a:endParaRPr lang="en-US"/>
          </a:p>
        </p:txBody>
      </p:sp>
    </p:spTree>
    <p:extLst>
      <p:ext uri="{BB962C8B-B14F-4D97-AF65-F5344CB8AC3E}">
        <p14:creationId xmlns:p14="http://schemas.microsoft.com/office/powerpoint/2010/main" val="949642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505682-797F-44FC-A382-8B6C2659ED26}" type="datetimeFigureOut">
              <a:rPr lang="en-US" smtClean="0"/>
              <a:t>8/31/2026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21D784-9BF3-4C07-8329-5ECC9192B848}" type="slidenum">
              <a:rPr lang="en-US" smtClean="0"/>
              <a:t>‹#›</a:t>
            </a:fld>
            <a:endParaRPr lang="en-US"/>
          </a:p>
        </p:txBody>
      </p:sp>
    </p:spTree>
    <p:extLst>
      <p:ext uri="{BB962C8B-B14F-4D97-AF65-F5344CB8AC3E}">
        <p14:creationId xmlns:p14="http://schemas.microsoft.com/office/powerpoint/2010/main" val="3809938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3390/jsan11010015" TargetMode="External"/><Relationship Id="rId2" Type="http://schemas.openxmlformats.org/officeDocument/2006/relationships/hyperlink" Target="https://doi.org/10.1080/03003930.2022.2116575" TargetMode="External"/><Relationship Id="rId1" Type="http://schemas.openxmlformats.org/officeDocument/2006/relationships/slideLayout" Target="../slideLayouts/slideLayout2.xml"/><Relationship Id="rId4" Type="http://schemas.openxmlformats.org/officeDocument/2006/relationships/hyperlink" Target="https://doi.org/10.1016/j.heliyon.2023.e22569"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9086" y="350560"/>
            <a:ext cx="11932914" cy="2565635"/>
          </a:xfrm>
        </p:spPr>
        <p:txBody>
          <a:bodyPr>
            <a:normAutofit fontScale="90000"/>
          </a:bodyPr>
          <a:lstStyle/>
          <a:p>
            <a:r>
              <a:rPr lang="en-US" sz="3100" dirty="0">
                <a:latin typeface="Times New Roman" panose="02020603050405020304" pitchFamily="18" charset="0"/>
                <a:cs typeface="Times New Roman" panose="02020603050405020304" pitchFamily="18" charset="0"/>
              </a:rPr>
              <a:t>	</a:t>
            </a:r>
            <a:r>
              <a:rPr lang="en-US" sz="2700" dirty="0">
                <a:latin typeface="Times New Roman" panose="02020603050405020304" pitchFamily="18" charset="0"/>
                <a:cs typeface="Times New Roman" panose="02020603050405020304" pitchFamily="18" charset="0"/>
              </a:rPr>
              <a:t>GOKARAJU RANGARAJU INSTITUTE OF ENGINEERING AND TECHNOLOGY</a:t>
            </a:r>
            <a:br>
              <a:rPr lang="en-US" sz="27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Department of Computer Science and Engineering</a:t>
            </a:r>
            <a:br>
              <a:rPr lang="en-US" sz="3100" dirty="0"/>
            </a:br>
            <a:br>
              <a:rPr lang="en-US" sz="3100" dirty="0"/>
            </a:br>
            <a:r>
              <a:rPr lang="en-US" sz="3100" b="1" u="sng" dirty="0">
                <a:latin typeface="Times New Roman" panose="02020603050405020304" pitchFamily="18" charset="0"/>
                <a:cs typeface="Times New Roman" panose="02020603050405020304" pitchFamily="18" charset="0"/>
              </a:rPr>
              <a:t>Major Project Review-2</a:t>
            </a:r>
            <a:br>
              <a:rPr lang="en-US" b="1" u="sng" dirty="0">
                <a:latin typeface="Times New Roman" panose="02020603050405020304" pitchFamily="18" charset="0"/>
                <a:cs typeface="Times New Roman" panose="02020603050405020304" pitchFamily="18" charset="0"/>
              </a:rPr>
            </a:br>
            <a:endParaRPr lang="en-US" b="1" u="sng"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593559" y="2512756"/>
            <a:ext cx="10916124" cy="3651422"/>
          </a:xfrm>
        </p:spPr>
        <p:txBody>
          <a:bodyPr>
            <a:normAutofit fontScale="47500" lnSpcReduction="20000"/>
          </a:bodyPr>
          <a:lstStyle/>
          <a:p>
            <a:pPr>
              <a:lnSpc>
                <a:spcPct val="120000"/>
              </a:lnSpc>
              <a:spcBef>
                <a:spcPts val="0"/>
              </a:spcBef>
            </a:pPr>
            <a:r>
              <a:rPr lang="en-US" sz="5400" b="1" dirty="0" err="1">
                <a:latin typeface="Times New Roman" panose="02020603050405020304" pitchFamily="18" charset="0"/>
                <a:cs typeface="Times New Roman" panose="02020603050405020304" pitchFamily="18" charset="0"/>
              </a:rPr>
              <a:t>FixMyCity</a:t>
            </a:r>
            <a:r>
              <a:rPr lang="en-US" sz="5400" b="1" dirty="0">
                <a:latin typeface="Times New Roman" panose="02020603050405020304" pitchFamily="18" charset="0"/>
                <a:cs typeface="Times New Roman" panose="02020603050405020304" pitchFamily="18" charset="0"/>
              </a:rPr>
              <a:t>: </a:t>
            </a:r>
            <a:r>
              <a:rPr lang="en-IN" sz="5400" b="1" dirty="0">
                <a:latin typeface="Times New Roman" panose="02020603050405020304" pitchFamily="18" charset="0"/>
                <a:cs typeface="Times New Roman" panose="02020603050405020304" pitchFamily="18" charset="0"/>
              </a:rPr>
              <a:t>Smart Civic Issue Reporting and Urban Decision Support System</a:t>
            </a:r>
            <a:endParaRPr lang="en-US" sz="8000" b="1" dirty="0">
              <a:latin typeface="Times New Roman" panose="02020603050405020304" pitchFamily="18" charset="0"/>
              <a:cs typeface="Times New Roman" panose="02020603050405020304" pitchFamily="18" charset="0"/>
            </a:endParaRPr>
          </a:p>
          <a:p>
            <a:r>
              <a:rPr lang="en-US" sz="5100" dirty="0">
                <a:latin typeface="Times New Roman" panose="02020603050405020304" pitchFamily="18" charset="0"/>
                <a:cs typeface="Times New Roman" panose="02020603050405020304" pitchFamily="18" charset="0"/>
              </a:rPr>
              <a:t>Under the esteemed guidance of</a:t>
            </a:r>
            <a:endParaRPr lang="en-US" sz="5100" dirty="0">
              <a:solidFill>
                <a:srgbClr val="000000"/>
              </a:solidFill>
              <a:effectLst/>
              <a:latin typeface="Times New Roman" panose="02020603050405020304" pitchFamily="18" charset="0"/>
              <a:ea typeface="Calibri" panose="020F0502020204030204" pitchFamily="34" charset="0"/>
            </a:endParaRPr>
          </a:p>
          <a:p>
            <a:r>
              <a:rPr lang="en-IN" sz="4200" b="1" spc="-25" dirty="0">
                <a:latin typeface="Times New Roman"/>
                <a:cs typeface="Times New Roman"/>
              </a:rPr>
              <a:t>Dr P </a:t>
            </a:r>
            <a:r>
              <a:rPr lang="en-IN" sz="4200" b="1" spc="-25" dirty="0" err="1">
                <a:latin typeface="Times New Roman"/>
                <a:cs typeface="Times New Roman"/>
              </a:rPr>
              <a:t>Varaprasad</a:t>
            </a:r>
            <a:r>
              <a:rPr lang="en-IN" sz="4200" b="1" spc="-25" dirty="0">
                <a:latin typeface="Times New Roman"/>
                <a:cs typeface="Times New Roman"/>
              </a:rPr>
              <a:t> Rao</a:t>
            </a:r>
            <a:endParaRPr lang="en-US" sz="42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r>
              <a:rPr lang="en-US" sz="3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Professor</a:t>
            </a:r>
            <a:endParaRPr lang="en-US" sz="3600" dirty="0">
              <a:latin typeface="Times New Roman" panose="02020603050405020304" pitchFamily="18" charset="0"/>
              <a:cs typeface="Times New Roman" panose="02020603050405020304" pitchFamily="18" charset="0"/>
            </a:endParaRPr>
          </a:p>
          <a:p>
            <a:r>
              <a:rPr lang="en-US" b="1" i="1" dirty="0"/>
              <a:t> </a:t>
            </a:r>
            <a:endParaRPr lang="en-US" i="1" dirty="0"/>
          </a:p>
          <a:p>
            <a:pPr algn="r"/>
            <a:r>
              <a:rPr lang="en-US" sz="3400" dirty="0">
                <a:latin typeface="Times New Roman" panose="02020603050405020304" pitchFamily="18" charset="0"/>
                <a:cs typeface="Times New Roman" panose="02020603050405020304" pitchFamily="18" charset="0"/>
              </a:rPr>
              <a:t>BUVANESH NEERUKONDA - 23241A05T4</a:t>
            </a:r>
            <a:r>
              <a:rPr lang="en-US" sz="2900" b="1" dirty="0">
                <a:latin typeface="Times New Roman" panose="02020603050405020304" pitchFamily="18" charset="0"/>
                <a:cs typeface="Times New Roman" panose="02020603050405020304" pitchFamily="18" charset="0"/>
              </a:rPr>
              <a:t> </a:t>
            </a:r>
            <a:endParaRPr lang="en-US" sz="3500" b="1" dirty="0">
              <a:latin typeface="Times New Roman" panose="02020603050405020304" pitchFamily="18" charset="0"/>
              <a:cs typeface="Times New Roman" panose="02020603050405020304" pitchFamily="18" charset="0"/>
            </a:endParaRPr>
          </a:p>
          <a:p>
            <a:pPr algn="r"/>
            <a:r>
              <a:rPr lang="en-US" sz="3500" b="1" dirty="0">
                <a:latin typeface="Times New Roman" panose="02020603050405020304" pitchFamily="18" charset="0"/>
                <a:cs typeface="Times New Roman" panose="02020603050405020304" pitchFamily="18" charset="0"/>
              </a:rPr>
              <a:t>Batch No: E8  </a:t>
            </a:r>
            <a:r>
              <a:rPr lang="en-US" sz="2900" b="1" dirty="0">
                <a:latin typeface="Times New Roman" panose="02020603050405020304" pitchFamily="18" charset="0"/>
                <a:cs typeface="Times New Roman" panose="02020603050405020304" pitchFamily="18" charset="0"/>
              </a:rPr>
              <a:t>                                                                                                                                     </a:t>
            </a:r>
            <a:r>
              <a:rPr lang="en-US" sz="3400" dirty="0">
                <a:latin typeface="Times New Roman" panose="02020603050405020304" pitchFamily="18" charset="0"/>
                <a:cs typeface="Times New Roman" panose="02020603050405020304" pitchFamily="18" charset="0"/>
              </a:rPr>
              <a:t>P.MANIKANTA REDDY</a:t>
            </a:r>
            <a:r>
              <a:rPr lang="en-US" sz="3400" dirty="0">
                <a:solidFill>
                  <a:srgbClr val="000000"/>
                </a:solidFill>
                <a:latin typeface="Times New Roman" panose="02020603050405020304" pitchFamily="18" charset="0"/>
                <a:ea typeface="Calibri" panose="020F0502020204030204" pitchFamily="34" charset="0"/>
              </a:rPr>
              <a:t> </a:t>
            </a:r>
            <a:r>
              <a:rPr lang="en-US" sz="3400" dirty="0">
                <a:latin typeface="Times New Roman" panose="02020603050405020304" pitchFamily="18" charset="0"/>
                <a:cs typeface="Times New Roman" panose="02020603050405020304" pitchFamily="18" charset="0"/>
              </a:rPr>
              <a:t>- 23241A05X2 </a:t>
            </a:r>
          </a:p>
          <a:p>
            <a:pPr algn="r"/>
            <a:r>
              <a:rPr lang="en-US" sz="3400" dirty="0">
                <a:latin typeface="Times New Roman" panose="02020603050405020304" pitchFamily="18" charset="0"/>
                <a:cs typeface="Times New Roman" panose="02020603050405020304" pitchFamily="18" charset="0"/>
              </a:rPr>
              <a:t>PULI ANIRUDH - 23241A05X3</a:t>
            </a:r>
          </a:p>
          <a:p>
            <a:pPr algn="r"/>
            <a:r>
              <a:rPr lang="en-US" sz="3400" dirty="0">
                <a:latin typeface="Times New Roman" panose="02020603050405020304" pitchFamily="18" charset="0"/>
                <a:cs typeface="Times New Roman" panose="02020603050405020304" pitchFamily="18" charset="0"/>
              </a:rPr>
              <a:t>SHAIK ASHARAF - 23241A05X9 </a:t>
            </a:r>
          </a:p>
          <a:p>
            <a:endParaRPr lang="en-US" sz="2900" dirty="0"/>
          </a:p>
        </p:txBody>
      </p:sp>
      <p:pic>
        <p:nvPicPr>
          <p:cNvPr id="4" name="image1.jpeg" descr="C:\Users\admin\Desktop\download.png"/>
          <p:cNvPicPr/>
          <p:nvPr/>
        </p:nvPicPr>
        <p:blipFill>
          <a:blip r:embed="rId2" cstate="print"/>
          <a:stretch>
            <a:fillRect/>
          </a:stretch>
        </p:blipFill>
        <p:spPr>
          <a:xfrm>
            <a:off x="193183" y="421415"/>
            <a:ext cx="1075386" cy="964014"/>
          </a:xfrm>
          <a:prstGeom prst="rect">
            <a:avLst/>
          </a:prstGeom>
        </p:spPr>
      </p:pic>
    </p:spTree>
    <p:extLst>
      <p:ext uri="{BB962C8B-B14F-4D97-AF65-F5344CB8AC3E}">
        <p14:creationId xmlns:p14="http://schemas.microsoft.com/office/powerpoint/2010/main" val="2267418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9AB48-3C5A-66C1-90B7-1CB92D069B98}"/>
              </a:ext>
            </a:extLst>
          </p:cNvPr>
          <p:cNvSpPr>
            <a:spLocks noGrp="1"/>
          </p:cNvSpPr>
          <p:nvPr>
            <p:ph type="title"/>
          </p:nvPr>
        </p:nvSpPr>
        <p:spPr>
          <a:xfrm>
            <a:off x="188495" y="0"/>
            <a:ext cx="10515600" cy="1325563"/>
          </a:xfrm>
        </p:spPr>
        <p:txBody>
          <a:bodyPr/>
          <a:lstStyle/>
          <a:p>
            <a:r>
              <a:rPr lang="en-IN" b="1" u="sng" dirty="0">
                <a:latin typeface="Times New Roman" panose="02020603050405020304" pitchFamily="18" charset="0"/>
                <a:cs typeface="Times New Roman" panose="02020603050405020304" pitchFamily="18" charset="0"/>
              </a:rPr>
              <a:t>Project Overview &amp; Objectives </a:t>
            </a:r>
          </a:p>
        </p:txBody>
      </p:sp>
      <p:sp>
        <p:nvSpPr>
          <p:cNvPr id="3" name="Content Placeholder 2">
            <a:extLst>
              <a:ext uri="{FF2B5EF4-FFF2-40B4-BE49-F238E27FC236}">
                <a16:creationId xmlns:a16="http://schemas.microsoft.com/office/drawing/2014/main" id="{34F6C922-3A84-1B28-12AC-FEF50356A05D}"/>
              </a:ext>
            </a:extLst>
          </p:cNvPr>
          <p:cNvSpPr>
            <a:spLocks noGrp="1"/>
          </p:cNvSpPr>
          <p:nvPr>
            <p:ph idx="1"/>
          </p:nvPr>
        </p:nvSpPr>
        <p:spPr>
          <a:xfrm>
            <a:off x="421104" y="1026695"/>
            <a:ext cx="11016917" cy="5320317"/>
          </a:xfrm>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Problem Statement </a:t>
            </a:r>
          </a:p>
          <a:p>
            <a:pPr algn="just"/>
            <a:r>
              <a:rPr lang="en-US" sz="2000" dirty="0">
                <a:latin typeface="Times New Roman" panose="02020603050405020304" pitchFamily="18" charset="0"/>
                <a:cs typeface="Times New Roman" panose="02020603050405020304" pitchFamily="18" charset="0"/>
              </a:rPr>
              <a:t>Citizens often lack </a:t>
            </a:r>
            <a:r>
              <a:rPr lang="en-US" sz="2000" b="1" dirty="0">
                <a:latin typeface="Times New Roman" panose="02020603050405020304" pitchFamily="18" charset="0"/>
                <a:cs typeface="Times New Roman" panose="02020603050405020304" pitchFamily="18" charset="0"/>
              </a:rPr>
              <a:t>transparent, </a:t>
            </a:r>
            <a:r>
              <a:rPr lang="en-US" sz="2000" b="1" dirty="0" err="1">
                <a:latin typeface="Times New Roman" panose="02020603050405020304" pitchFamily="18" charset="0"/>
                <a:cs typeface="Times New Roman" panose="02020603050405020304" pitchFamily="18" charset="0"/>
              </a:rPr>
              <a:t>centralised</a:t>
            </a:r>
            <a:r>
              <a:rPr lang="en-US" sz="2000" b="1" dirty="0">
                <a:latin typeface="Times New Roman" panose="02020603050405020304" pitchFamily="18" charset="0"/>
                <a:cs typeface="Times New Roman" panose="02020603050405020304" pitchFamily="18" charset="0"/>
              </a:rPr>
              <a:t> visibility </a:t>
            </a:r>
            <a:r>
              <a:rPr lang="en-US" sz="2000" dirty="0">
                <a:latin typeface="Times New Roman" panose="02020603050405020304" pitchFamily="18" charset="0"/>
                <a:cs typeface="Times New Roman" panose="02020603050405020304" pitchFamily="18" charset="0"/>
              </a:rPr>
              <a:t>into complaint progress, departmental actions, and resolution status.</a:t>
            </a:r>
          </a:p>
          <a:p>
            <a:pPr algn="just"/>
            <a:r>
              <a:rPr lang="en-US" sz="2000" dirty="0">
                <a:latin typeface="Times New Roman" panose="02020603050405020304" pitchFamily="18" charset="0"/>
                <a:cs typeface="Times New Roman" panose="02020603050405020304" pitchFamily="18" charset="0"/>
              </a:rPr>
              <a:t>Existing civic grievance systems primarily focus </a:t>
            </a:r>
            <a:r>
              <a:rPr lang="en-US" sz="2000" b="1" dirty="0">
                <a:latin typeface="Times New Roman" panose="02020603050405020304" pitchFamily="18" charset="0"/>
                <a:cs typeface="Times New Roman" panose="02020603050405020304" pitchFamily="18" charset="0"/>
              </a:rPr>
              <a:t>on complaint registration </a:t>
            </a:r>
            <a:r>
              <a:rPr lang="en-US" sz="2000" dirty="0">
                <a:latin typeface="Times New Roman" panose="02020603050405020304" pitchFamily="18" charset="0"/>
                <a:cs typeface="Times New Roman" panose="02020603050405020304" pitchFamily="18" charset="0"/>
              </a:rPr>
              <a:t>and</a:t>
            </a:r>
            <a:r>
              <a:rPr lang="en-US" sz="2000" b="1" dirty="0">
                <a:latin typeface="Times New Roman" panose="02020603050405020304" pitchFamily="18" charset="0"/>
                <a:cs typeface="Times New Roman" panose="02020603050405020304" pitchFamily="18" charset="0"/>
              </a:rPr>
              <a:t> tracking</a:t>
            </a:r>
            <a:r>
              <a:rPr lang="en-US" sz="2000" dirty="0">
                <a:latin typeface="Times New Roman" panose="02020603050405020304" pitchFamily="18" charset="0"/>
                <a:cs typeface="Times New Roman" panose="02020603050405020304" pitchFamily="18" charset="0"/>
              </a:rPr>
              <a:t>, with limited intelligent analysis.</a:t>
            </a:r>
            <a:r>
              <a:rPr lang="en-IN"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Municipal authorities have limited tools to analyze </a:t>
            </a:r>
            <a:r>
              <a:rPr lang="en-US" sz="2000" b="1" dirty="0">
                <a:latin typeface="Times New Roman" panose="02020603050405020304" pitchFamily="18" charset="0"/>
                <a:cs typeface="Times New Roman" panose="02020603050405020304" pitchFamily="18" charset="0"/>
              </a:rPr>
              <a:t>spatial patterns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recurring issues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seasonal civic problems</a:t>
            </a:r>
            <a:r>
              <a:rPr lang="en-US" sz="2000" dirty="0">
                <a:latin typeface="Times New Roman" panose="02020603050405020304" pitchFamily="18" charset="0"/>
                <a:cs typeface="Times New Roman" panose="02020603050405020304" pitchFamily="18" charset="0"/>
              </a:rPr>
              <a:t>.</a:t>
            </a:r>
          </a:p>
          <a:p>
            <a:pPr algn="just"/>
            <a:r>
              <a:rPr lang="en-IN" sz="2000" dirty="0">
                <a:latin typeface="Times New Roman" panose="02020603050405020304" pitchFamily="18" charset="0"/>
                <a:cs typeface="Times New Roman" panose="02020603050405020304" pitchFamily="18" charset="0"/>
              </a:rPr>
              <a:t>Environmental challenges such as </a:t>
            </a:r>
            <a:r>
              <a:rPr lang="en-IN" sz="2000" b="1" dirty="0">
                <a:latin typeface="Times New Roman" panose="02020603050405020304" pitchFamily="18" charset="0"/>
                <a:cs typeface="Times New Roman" panose="02020603050405020304" pitchFamily="18" charset="0"/>
              </a:rPr>
              <a:t>air pollution and water scarcity</a:t>
            </a:r>
            <a:r>
              <a:rPr lang="en-IN" sz="2000" dirty="0">
                <a:latin typeface="Times New Roman" panose="02020603050405020304" pitchFamily="18" charset="0"/>
                <a:cs typeface="Times New Roman" panose="02020603050405020304" pitchFamily="18" charset="0"/>
              </a:rPr>
              <a:t> require integrated data analysis and predictive decision support.</a:t>
            </a:r>
            <a:endParaRPr lang="en-US" sz="2000" dirty="0">
              <a:latin typeface="Times New Roman" panose="02020603050405020304" pitchFamily="18" charset="0"/>
              <a:cs typeface="Times New Roman" panose="02020603050405020304" pitchFamily="18" charset="0"/>
            </a:endParaRPr>
          </a:p>
          <a:p>
            <a:pPr marL="0" indent="0" algn="just">
              <a:buNone/>
            </a:pPr>
            <a:r>
              <a:rPr lang="en-IN" sz="2200" b="1" dirty="0">
                <a:latin typeface="Times New Roman" panose="02020603050405020304" pitchFamily="18" charset="0"/>
                <a:cs typeface="Times New Roman" panose="02020603050405020304" pitchFamily="18" charset="0"/>
              </a:rPr>
              <a:t>Scope </a:t>
            </a:r>
          </a:p>
          <a:p>
            <a:pPr algn="just"/>
            <a:r>
              <a:rPr lang="en-US" sz="2000" dirty="0">
                <a:latin typeface="Times New Roman" panose="02020603050405020304" pitchFamily="18" charset="0"/>
                <a:cs typeface="Times New Roman" panose="02020603050405020304" pitchFamily="18" charset="0"/>
              </a:rPr>
              <a:t>Develop a </a:t>
            </a:r>
            <a:r>
              <a:rPr lang="en-US" sz="2000" b="1" dirty="0">
                <a:latin typeface="Times New Roman" panose="02020603050405020304" pitchFamily="18" charset="0"/>
                <a:cs typeface="Times New Roman" panose="02020603050405020304" pitchFamily="18" charset="0"/>
              </a:rPr>
              <a:t>Smart civic reporting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urban decision support platform </a:t>
            </a:r>
            <a:r>
              <a:rPr lang="en-US" sz="2000" dirty="0">
                <a:latin typeface="Times New Roman" panose="02020603050405020304" pitchFamily="18" charset="0"/>
                <a:cs typeface="Times New Roman" panose="02020603050405020304" pitchFamily="18" charset="0"/>
              </a:rPr>
              <a:t>for Hyderabad.</a:t>
            </a:r>
          </a:p>
          <a:p>
            <a:pPr algn="just"/>
            <a:r>
              <a:rPr lang="en-US" sz="2000" dirty="0">
                <a:latin typeface="Times New Roman" panose="02020603050405020304" pitchFamily="18" charset="0"/>
                <a:cs typeface="Times New Roman" panose="02020603050405020304" pitchFamily="18" charset="0"/>
              </a:rPr>
              <a:t>Enable citizens to report through </a:t>
            </a:r>
            <a:r>
              <a:rPr lang="en-US" sz="2000" b="1" dirty="0">
                <a:latin typeface="Times New Roman" panose="02020603050405020304" pitchFamily="18" charset="0"/>
                <a:cs typeface="Times New Roman" panose="02020603050405020304" pitchFamily="18" charset="0"/>
              </a:rPr>
              <a:t>Web and WhatsApp </a:t>
            </a:r>
            <a:r>
              <a:rPr lang="en-US" sz="2000" dirty="0">
                <a:latin typeface="Times New Roman" panose="02020603050405020304" pitchFamily="18" charset="0"/>
                <a:cs typeface="Times New Roman" panose="02020603050405020304" pitchFamily="18" charset="0"/>
              </a:rPr>
              <a:t>using text, images, voice, and location.</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Combine citizen reports </a:t>
            </a:r>
            <a:r>
              <a:rPr lang="en-US" sz="2000" b="1" dirty="0">
                <a:latin typeface="Times New Roman" panose="02020603050405020304" pitchFamily="18" charset="0"/>
                <a:cs typeface="Times New Roman" panose="02020603050405020304" pitchFamily="18" charset="0"/>
              </a:rPr>
              <a:t>with AQI, weather, rainfall, satellite, land-use, and groundwater datasets</a:t>
            </a:r>
            <a:r>
              <a:rPr lang="en-US"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Provide predictive insights and recommendations for </a:t>
            </a:r>
            <a:r>
              <a:rPr lang="en-US" sz="2000" b="1" dirty="0">
                <a:latin typeface="Times New Roman" panose="02020603050405020304" pitchFamily="18" charset="0"/>
                <a:cs typeface="Times New Roman" panose="02020603050405020304" pitchFamily="18" charset="0"/>
              </a:rPr>
              <a:t>pollution control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seasonal issue management, and sustainable water planning</a:t>
            </a:r>
            <a:r>
              <a:rPr lang="en-US"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21566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34B91F-0598-4377-5302-190CC9B001A8}"/>
              </a:ext>
            </a:extLst>
          </p:cNvPr>
          <p:cNvSpPr>
            <a:spLocks noGrp="1"/>
          </p:cNvSpPr>
          <p:nvPr>
            <p:ph idx="1"/>
          </p:nvPr>
        </p:nvSpPr>
        <p:spPr>
          <a:xfrm>
            <a:off x="425116" y="577515"/>
            <a:ext cx="11189367" cy="5646821"/>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Objectives </a:t>
            </a:r>
          </a:p>
          <a:p>
            <a:pPr algn="just"/>
            <a:r>
              <a:rPr lang="en-US" sz="2000" b="1" dirty="0">
                <a:latin typeface="Times New Roman" panose="02020603050405020304" pitchFamily="18" charset="0"/>
                <a:cs typeface="Times New Roman" panose="02020603050405020304" pitchFamily="18" charset="0"/>
              </a:rPr>
              <a:t>Automatically classify and verify </a:t>
            </a:r>
            <a:r>
              <a:rPr lang="en-US" sz="2000" dirty="0">
                <a:latin typeface="Times New Roman" panose="02020603050405020304" pitchFamily="18" charset="0"/>
                <a:cs typeface="Times New Roman" panose="02020603050405020304" pitchFamily="18" charset="0"/>
              </a:rPr>
              <a:t>civic complaints using AI-based multimedia analysis.</a:t>
            </a:r>
          </a:p>
          <a:p>
            <a:pPr algn="just"/>
            <a:r>
              <a:rPr lang="en-US" sz="2000" b="1" dirty="0">
                <a:latin typeface="Times New Roman" panose="02020603050405020304" pitchFamily="18" charset="0"/>
                <a:cs typeface="Times New Roman" panose="02020603050405020304" pitchFamily="18" charset="0"/>
              </a:rPr>
              <a:t>Detect duplicate complaints </a:t>
            </a:r>
            <a:r>
              <a:rPr lang="en-US" sz="2000" dirty="0">
                <a:latin typeface="Times New Roman" panose="02020603050405020304" pitchFamily="18" charset="0"/>
                <a:cs typeface="Times New Roman" panose="02020603050405020304" pitchFamily="18" charset="0"/>
              </a:rPr>
              <a:t>using text, image, and geospatial similarity.</a:t>
            </a:r>
          </a:p>
          <a:p>
            <a:pPr algn="just"/>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Prioritise</a:t>
            </a:r>
            <a:r>
              <a:rPr lang="en-US" sz="2000" b="1" dirty="0">
                <a:latin typeface="Times New Roman" panose="02020603050405020304" pitchFamily="18" charset="0"/>
                <a:cs typeface="Times New Roman" panose="02020603050405020304" pitchFamily="18" charset="0"/>
              </a:rPr>
              <a:t> issues </a:t>
            </a:r>
            <a:r>
              <a:rPr lang="en-US" sz="2000" dirty="0">
                <a:latin typeface="Times New Roman" panose="02020603050405020304" pitchFamily="18" charset="0"/>
                <a:cs typeface="Times New Roman" panose="02020603050405020304" pitchFamily="18" charset="0"/>
              </a:rPr>
              <a:t>based on severity, public support, affected population, and environmental impact.</a:t>
            </a:r>
          </a:p>
          <a:p>
            <a:pPr algn="just"/>
            <a:r>
              <a:rPr lang="en-US" sz="2000" b="1" dirty="0">
                <a:latin typeface="Times New Roman" panose="02020603050405020304" pitchFamily="18" charset="0"/>
                <a:cs typeface="Times New Roman" panose="02020603050405020304" pitchFamily="18" charset="0"/>
              </a:rPr>
              <a:t>Identify civic hotspots </a:t>
            </a:r>
            <a:r>
              <a:rPr lang="en-US" sz="2000" dirty="0">
                <a:latin typeface="Times New Roman" panose="02020603050405020304" pitchFamily="18" charset="0"/>
                <a:cs typeface="Times New Roman" panose="02020603050405020304" pitchFamily="18" charset="0"/>
              </a:rPr>
              <a:t>and recurring patterns using GIS and spatial-temporal analytics.</a:t>
            </a:r>
          </a:p>
          <a:p>
            <a:pPr algn="just"/>
            <a:r>
              <a:rPr lang="en-US" sz="2000" b="1" dirty="0">
                <a:latin typeface="Times New Roman" panose="02020603050405020304" pitchFamily="18" charset="0"/>
                <a:cs typeface="Times New Roman" panose="02020603050405020304" pitchFamily="18" charset="0"/>
              </a:rPr>
              <a:t>Predict air pollution and seasonal civic risks</a:t>
            </a:r>
            <a:r>
              <a:rPr lang="en-US" sz="2000" dirty="0">
                <a:latin typeface="Times New Roman" panose="02020603050405020304" pitchFamily="18" charset="0"/>
                <a:cs typeface="Times New Roman" panose="02020603050405020304" pitchFamily="18" charset="0"/>
              </a:rPr>
              <a:t> using environmental and historical complaint data.</a:t>
            </a:r>
          </a:p>
          <a:p>
            <a:pPr algn="just"/>
            <a:r>
              <a:rPr lang="en-US" sz="2000" dirty="0">
                <a:latin typeface="Times New Roman" panose="02020603050405020304" pitchFamily="18" charset="0"/>
                <a:cs typeface="Times New Roman" panose="02020603050405020304" pitchFamily="18" charset="0"/>
              </a:rPr>
              <a:t>Estimate </a:t>
            </a:r>
            <a:r>
              <a:rPr lang="en-US" sz="2000" b="1" dirty="0">
                <a:latin typeface="Times New Roman" panose="02020603050405020304" pitchFamily="18" charset="0"/>
                <a:cs typeface="Times New Roman" panose="02020603050405020304" pitchFamily="18" charset="0"/>
              </a:rPr>
              <a:t>water scarcity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groundwater recharge potential </a:t>
            </a:r>
            <a:r>
              <a:rPr lang="en-US" sz="2000" dirty="0">
                <a:latin typeface="Times New Roman" panose="02020603050405020304" pitchFamily="18" charset="0"/>
                <a:cs typeface="Times New Roman" panose="02020603050405020304" pitchFamily="18" charset="0"/>
              </a:rPr>
              <a:t>using rainfall, vegetation, land-use, and groundwater data.</a:t>
            </a:r>
          </a:p>
          <a:p>
            <a:pPr algn="just"/>
            <a:r>
              <a:rPr lang="en-US" sz="2000" dirty="0">
                <a:latin typeface="Times New Roman" panose="02020603050405020304" pitchFamily="18" charset="0"/>
                <a:cs typeface="Times New Roman" panose="02020603050405020304" pitchFamily="18" charset="0"/>
              </a:rPr>
              <a:t>Propose recommendations to support proactive </a:t>
            </a:r>
            <a:r>
              <a:rPr lang="en-US" sz="2000" b="1" dirty="0">
                <a:latin typeface="Times New Roman" panose="02020603050405020304" pitchFamily="18" charset="0"/>
                <a:cs typeface="Times New Roman" panose="02020603050405020304" pitchFamily="18" charset="0"/>
              </a:rPr>
              <a:t>municipal planning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resource allocation</a:t>
            </a:r>
            <a:r>
              <a:rPr lang="en-US" sz="2000" dirty="0">
                <a:latin typeface="Times New Roman" panose="02020603050405020304" pitchFamily="18" charset="0"/>
                <a:cs typeface="Times New Roman" panose="02020603050405020304" pitchFamily="18" charset="0"/>
              </a:rPr>
              <a:t>.</a:t>
            </a: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5260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705" y="203715"/>
            <a:ext cx="10515600" cy="866267"/>
          </a:xfrm>
        </p:spPr>
        <p:txBody>
          <a:bodyPr>
            <a:normAutofit/>
          </a:bodyPr>
          <a:lstStyle/>
          <a:p>
            <a:r>
              <a:rPr lang="en-IN" b="1" u="sng" dirty="0">
                <a:latin typeface="Times New Roman" panose="02020603050405020304" pitchFamily="18" charset="0"/>
                <a:cs typeface="Times New Roman" panose="02020603050405020304" pitchFamily="18" charset="0"/>
              </a:rPr>
              <a:t>Introduction &amp; Motivation</a:t>
            </a:r>
            <a:endParaRPr lang="en-US"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9335" y="1069982"/>
            <a:ext cx="11297653" cy="4945571"/>
          </a:xfrm>
        </p:spPr>
        <p:txBody>
          <a:bodyPr>
            <a:noAutofit/>
          </a:bodyPr>
          <a:lstStyle/>
          <a:p>
            <a:pPr marL="0" marR="73025" indent="0" algn="just">
              <a:spcAft>
                <a:spcPts val="600"/>
              </a:spcAft>
              <a:buNone/>
            </a:pPr>
            <a:r>
              <a:rPr lang="en-IN" sz="2300" b="1" dirty="0">
                <a:latin typeface="Times New Roman" panose="02020603050405020304" pitchFamily="18" charset="0"/>
                <a:cs typeface="Times New Roman" panose="02020603050405020304" pitchFamily="18" charset="0"/>
              </a:rPr>
              <a:t>Introduction </a:t>
            </a:r>
          </a:p>
          <a:p>
            <a:pPr marR="73025" algn="just">
              <a:spcAft>
                <a:spcPts val="600"/>
              </a:spcAft>
            </a:pPr>
            <a:r>
              <a:rPr lang="en-US" sz="2000" dirty="0">
                <a:latin typeface="Times New Roman" panose="02020603050405020304" pitchFamily="18" charset="0"/>
                <a:cs typeface="Times New Roman" panose="02020603050405020304" pitchFamily="18" charset="0"/>
              </a:rPr>
              <a:t>Rapid urbanization and population growth have increased civic challenges such as road damage, waste accumulation, drainage issues, pollution, and water scarcity. Managing these problems efficiently requires continuous coordination between citizens and municipal authorities.</a:t>
            </a:r>
            <a:r>
              <a:rPr lang="en-IN" sz="2000" dirty="0">
                <a:latin typeface="Times New Roman" panose="02020603050405020304" pitchFamily="18" charset="0"/>
                <a:cs typeface="Times New Roman" panose="02020603050405020304" pitchFamily="18" charset="0"/>
              </a:rPr>
              <a:t> </a:t>
            </a:r>
          </a:p>
          <a:p>
            <a:pPr marR="73025" algn="just">
              <a:spcAft>
                <a:spcPts val="600"/>
              </a:spcAft>
            </a:pPr>
            <a:r>
              <a:rPr lang="en-US" sz="2000" dirty="0">
                <a:latin typeface="Times New Roman" panose="02020603050405020304" pitchFamily="18" charset="0"/>
                <a:cs typeface="Times New Roman" panose="02020603050405020304" pitchFamily="18" charset="0"/>
              </a:rPr>
              <a:t>Municipal authorities need to efficiently report, analyze, prioritize, and resolve civic issues while understanding their broader impact across the city. </a:t>
            </a:r>
            <a:r>
              <a:rPr lang="en-US" sz="2000" dirty="0" err="1">
                <a:latin typeface="Times New Roman" panose="02020603050405020304" pitchFamily="18" charset="0"/>
                <a:cs typeface="Times New Roman" panose="02020603050405020304" pitchFamily="18" charset="0"/>
              </a:rPr>
              <a:t>FixMyCity</a:t>
            </a:r>
            <a:r>
              <a:rPr lang="en-US" sz="2000" dirty="0">
                <a:latin typeface="Times New Roman" panose="02020603050405020304" pitchFamily="18" charset="0"/>
                <a:cs typeface="Times New Roman" panose="02020603050405020304" pitchFamily="18" charset="0"/>
              </a:rPr>
              <a:t> explores AI-powered urban intelligence to assist authorities in analyzing citizen complaints, environmental data, spatial patterns, and seasonal trends for proactive decision-making.</a:t>
            </a:r>
            <a:r>
              <a:rPr lang="en-IN" sz="2000" dirty="0">
                <a:latin typeface="Times New Roman" panose="02020603050405020304" pitchFamily="18" charset="0"/>
                <a:cs typeface="Times New Roman" panose="02020603050405020304" pitchFamily="18" charset="0"/>
              </a:rPr>
              <a:t> </a:t>
            </a:r>
          </a:p>
          <a:p>
            <a:pPr marL="0" marR="73025" indent="0" algn="just">
              <a:spcAft>
                <a:spcPts val="600"/>
              </a:spcAft>
              <a:buNone/>
            </a:pPr>
            <a:r>
              <a:rPr lang="en-IN" sz="2300" b="1" dirty="0">
                <a:latin typeface="Times New Roman" panose="02020603050405020304" pitchFamily="18" charset="0"/>
                <a:cs typeface="Times New Roman" panose="02020603050405020304" pitchFamily="18" charset="0"/>
              </a:rPr>
              <a:t>Motivation </a:t>
            </a:r>
          </a:p>
          <a:p>
            <a:pPr marR="73025" algn="just">
              <a:spcAft>
                <a:spcPts val="600"/>
              </a:spcAft>
            </a:pPr>
            <a:r>
              <a:rPr lang="en-US" sz="2000" dirty="0">
                <a:latin typeface="Times New Roman" panose="02020603050405020304" pitchFamily="18" charset="0"/>
                <a:cs typeface="Times New Roman" panose="02020603050405020304" pitchFamily="18" charset="0"/>
              </a:rPr>
              <a:t>Improve citizen participation by providing accessible channels to report issues.</a:t>
            </a:r>
            <a:r>
              <a:rPr lang="en-IN" sz="2000" dirty="0">
                <a:latin typeface="Times New Roman" panose="02020603050405020304" pitchFamily="18" charset="0"/>
                <a:cs typeface="Times New Roman" panose="02020603050405020304" pitchFamily="18" charset="0"/>
              </a:rPr>
              <a:t> </a:t>
            </a:r>
          </a:p>
          <a:p>
            <a:pPr marR="73025" algn="just">
              <a:spcAft>
                <a:spcPts val="600"/>
              </a:spcAft>
            </a:pPr>
            <a:r>
              <a:rPr lang="en-US" sz="2000" dirty="0">
                <a:latin typeface="Times New Roman" panose="02020603050405020304" pitchFamily="18" charset="0"/>
                <a:cs typeface="Times New Roman" panose="02020603050405020304" pitchFamily="18" charset="0"/>
              </a:rPr>
              <a:t>Reduce municipal response time by automation of internal tasks</a:t>
            </a:r>
            <a:r>
              <a:rPr lang="en-IN" sz="2000" dirty="0">
                <a:latin typeface="Times New Roman" panose="02020603050405020304" pitchFamily="18" charset="0"/>
                <a:cs typeface="Times New Roman" panose="02020603050405020304" pitchFamily="18" charset="0"/>
              </a:rPr>
              <a:t>. </a:t>
            </a:r>
          </a:p>
          <a:p>
            <a:pPr marR="73025" algn="just">
              <a:spcAft>
                <a:spcPts val="600"/>
              </a:spcAft>
            </a:pPr>
            <a:r>
              <a:rPr lang="en-US" sz="2000" dirty="0">
                <a:latin typeface="Times New Roman" panose="02020603050405020304" pitchFamily="18" charset="0"/>
                <a:cs typeface="Times New Roman" panose="02020603050405020304" pitchFamily="18" charset="0"/>
              </a:rPr>
              <a:t>Enable proactive environmental management by combining complaints with AQI, weather, rainfall, satellite, land-use, and groundwater data to analyze pollution and water-related risks.</a:t>
            </a:r>
            <a:endParaRPr lang="en-IN" sz="2000" dirty="0">
              <a:latin typeface="Times New Roman" panose="02020603050405020304" pitchFamily="18" charset="0"/>
              <a:cs typeface="Times New Roman" panose="02020603050405020304" pitchFamily="18" charset="0"/>
            </a:endParaRPr>
          </a:p>
          <a:p>
            <a:pPr marR="73025" algn="just">
              <a:spcAft>
                <a:spcPts val="600"/>
              </a:spcAft>
            </a:pPr>
            <a:r>
              <a:rPr lang="en-IN" sz="2000" dirty="0">
                <a:latin typeface="Times New Roman" panose="02020603050405020304" pitchFamily="18" charset="0"/>
                <a:cs typeface="Times New Roman" panose="02020603050405020304" pitchFamily="18" charset="0"/>
              </a:rPr>
              <a:t>Support data-driven municipal planning through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complaints and historical data</a:t>
            </a:r>
            <a:r>
              <a:rPr lang="en-IN" sz="2300" dirty="0">
                <a:latin typeface="Times New Roman" panose="02020603050405020304" pitchFamily="18" charset="0"/>
                <a:cs typeface="Times New Roman" panose="02020603050405020304" pitchFamily="18" charset="0"/>
              </a:rPr>
              <a:t>.</a:t>
            </a:r>
            <a:endParaRPr lang="en-US" sz="23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1434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484" y="19047"/>
            <a:ext cx="11830050" cy="1052596"/>
          </a:xfrm>
        </p:spPr>
        <p:txBody>
          <a:bodyPr vert="horz" lIns="31173" tIns="15586" rIns="31173" bIns="15586" rtlCol="0" anchor="ctr">
            <a:normAutofit/>
          </a:bodyPr>
          <a:lstStyle/>
          <a:p>
            <a:r>
              <a:rPr lang="en-IN" b="1" u="sng" dirty="0">
                <a:latin typeface="Times New Roman" panose="02020603050405020304" pitchFamily="18" charset="0"/>
                <a:cs typeface="Times New Roman" panose="02020603050405020304" pitchFamily="18" charset="0"/>
              </a:rPr>
              <a:t>Literature Survey Overview</a:t>
            </a:r>
            <a:endParaRPr lang="en-US" b="1" u="sng"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2B576164-65EE-99C1-CE74-F5F939B23E1D}"/>
              </a:ext>
            </a:extLst>
          </p:cNvPr>
          <p:cNvSpPr>
            <a:spLocks noGrp="1"/>
          </p:cNvSpPr>
          <p:nvPr>
            <p:ph idx="1"/>
          </p:nvPr>
        </p:nvSpPr>
        <p:spPr>
          <a:xfrm>
            <a:off x="517358" y="935285"/>
            <a:ext cx="11097126" cy="5553492"/>
          </a:xfrm>
        </p:spPr>
        <p:txBody>
          <a:bodyPr>
            <a:noAutofit/>
          </a:bodyPr>
          <a:lstStyle/>
          <a:p>
            <a:pPr marL="0" indent="0">
              <a:buNone/>
            </a:pPr>
            <a:r>
              <a:rPr lang="en-IN" sz="2500" b="1" dirty="0">
                <a:latin typeface="Times New Roman" panose="02020603050405020304" pitchFamily="18" charset="0"/>
                <a:cs typeface="Times New Roman" panose="02020603050405020304" pitchFamily="18" charset="0"/>
              </a:rPr>
              <a:t>Literature Survey Statistics </a:t>
            </a:r>
          </a:p>
          <a:p>
            <a:r>
              <a:rPr lang="en-IN" sz="2300" b="1" dirty="0">
                <a:latin typeface="Times New Roman" panose="02020603050405020304" pitchFamily="18" charset="0"/>
                <a:cs typeface="Times New Roman" panose="02020603050405020304" pitchFamily="18" charset="0"/>
              </a:rPr>
              <a:t>Total papers reviewed: </a:t>
            </a:r>
            <a:r>
              <a:rPr lang="en-IN" sz="2000" dirty="0">
                <a:latin typeface="Times New Roman"/>
              </a:rPr>
              <a:t>25</a:t>
            </a:r>
            <a:r>
              <a:rPr lang="en-IN" sz="2300" dirty="0">
                <a:latin typeface="Times New Roman" panose="02020603050405020304" pitchFamily="18" charset="0"/>
                <a:cs typeface="Times New Roman" panose="02020603050405020304" pitchFamily="18" charset="0"/>
              </a:rPr>
              <a:t> </a:t>
            </a:r>
          </a:p>
          <a:p>
            <a:r>
              <a:rPr lang="en-IN" sz="2300" b="1" dirty="0">
                <a:latin typeface="Times New Roman" panose="02020603050405020304" pitchFamily="18" charset="0"/>
                <a:cs typeface="Times New Roman" panose="02020603050405020304" pitchFamily="18" charset="0"/>
              </a:rPr>
              <a:t>Publication period: </a:t>
            </a:r>
            <a:r>
              <a:rPr lang="en-IN" sz="2000" dirty="0">
                <a:latin typeface="Times New Roman" panose="02020603050405020304" pitchFamily="18" charset="0"/>
                <a:cs typeface="Times New Roman" panose="02020603050405020304" pitchFamily="18" charset="0"/>
              </a:rPr>
              <a:t>2021–2026</a:t>
            </a:r>
          </a:p>
          <a:p>
            <a:r>
              <a:rPr lang="en-IN" sz="2300" b="1" dirty="0">
                <a:latin typeface="Times New Roman" panose="02020603050405020304" pitchFamily="18" charset="0"/>
                <a:cs typeface="Times New Roman" panose="02020603050405020304" pitchFamily="18" charset="0"/>
              </a:rPr>
              <a:t>Major research areas: </a:t>
            </a:r>
            <a:r>
              <a:rPr lang="en-US" sz="2000" dirty="0">
                <a:latin typeface="Times New Roman"/>
              </a:rPr>
              <a:t>Civic complaint management and citizen sensing, smart-city platforms, road-damage detection and </a:t>
            </a:r>
            <a:r>
              <a:rPr lang="en-US" sz="2000" dirty="0" err="1">
                <a:latin typeface="Times New Roman"/>
              </a:rPr>
              <a:t>prioritisation</a:t>
            </a:r>
            <a:r>
              <a:rPr lang="en-US" sz="2000" dirty="0">
                <a:latin typeface="Times New Roman"/>
              </a:rPr>
              <a:t>, NLP/multimodal similarity, </a:t>
            </a:r>
            <a:r>
              <a:rPr lang="en-US" sz="2000" dirty="0" err="1">
                <a:latin typeface="Times New Roman"/>
              </a:rPr>
              <a:t>GeoAI</a:t>
            </a:r>
            <a:r>
              <a:rPr lang="en-US" sz="2000" dirty="0">
                <a:latin typeface="Times New Roman"/>
              </a:rPr>
              <a:t> and GIS-based urban analytics, air-quality forecasting, seasonal flood-risk prediction, groundwater prediction, explainable AI, and multilingual AI</a:t>
            </a:r>
            <a:r>
              <a:rPr lang="en-IN" sz="2000" dirty="0">
                <a:latin typeface="Times New Roman" panose="02020603050405020304" pitchFamily="18" charset="0"/>
                <a:cs typeface="Times New Roman" panose="02020603050405020304" pitchFamily="18" charset="0"/>
              </a:rPr>
              <a:t> </a:t>
            </a:r>
          </a:p>
          <a:p>
            <a:r>
              <a:rPr lang="en-IN" sz="2300" b="1" dirty="0">
                <a:latin typeface="Times New Roman" panose="02020603050405020304" pitchFamily="18" charset="0"/>
                <a:cs typeface="Times New Roman" panose="02020603050405020304" pitchFamily="18" charset="0"/>
              </a:rPr>
              <a:t>Datasets identified across papers: </a:t>
            </a:r>
            <a:r>
              <a:rPr lang="en-IN" sz="2000" dirty="0" err="1"/>
              <a:t>FixMyStreet</a:t>
            </a:r>
            <a:r>
              <a:rPr lang="en-IN" sz="2000" dirty="0"/>
              <a:t>, 311 Service Requests, RDD2022 (Road Damage), OpenStreetMap (OSM), Sentinel-2, ESA </a:t>
            </a:r>
            <a:r>
              <a:rPr lang="en-IN" sz="2000" dirty="0" err="1"/>
              <a:t>WorldCover</a:t>
            </a:r>
            <a:r>
              <a:rPr lang="en-IN" sz="2000" dirty="0"/>
              <a:t>, SRTM DEM, CPCB Air Quality Data, </a:t>
            </a:r>
            <a:r>
              <a:rPr lang="en-IN" sz="2000" dirty="0" err="1"/>
              <a:t>OpenAQ</a:t>
            </a:r>
            <a:r>
              <a:rPr lang="en-IN" sz="2000" dirty="0"/>
              <a:t>, IMD Gridded Rainfall, India Flood Inventory (IFI), CGWB Groundwater Data, India-WRIS, Census of India, and IndicTrans2.</a:t>
            </a:r>
            <a:endParaRPr lang="en-IN" sz="2000" dirty="0">
              <a:latin typeface="Times New Roman" panose="02020603050405020304" pitchFamily="18" charset="0"/>
              <a:cs typeface="Times New Roman" panose="02020603050405020304" pitchFamily="18" charset="0"/>
            </a:endParaRPr>
          </a:p>
          <a:p>
            <a:r>
              <a:rPr lang="en-IN" sz="2300" b="1" dirty="0">
                <a:latin typeface="Times New Roman" panose="02020603050405020304" pitchFamily="18" charset="0"/>
                <a:cs typeface="Times New Roman" panose="02020603050405020304" pitchFamily="18" charset="0"/>
              </a:rPr>
              <a:t>Algorithms/Models studied: </a:t>
            </a:r>
            <a:r>
              <a:rPr lang="en-IN" sz="2000" dirty="0">
                <a:latin typeface="Times New Roman"/>
              </a:rPr>
              <a:t>Deep learning, YOLO/</a:t>
            </a:r>
            <a:r>
              <a:rPr lang="en-IN" sz="2000" dirty="0" err="1">
                <a:latin typeface="Times New Roman"/>
              </a:rPr>
              <a:t>UNet</a:t>
            </a:r>
            <a:r>
              <a:rPr lang="en-IN" sz="2000" dirty="0">
                <a:latin typeface="Times New Roman"/>
              </a:rPr>
              <a:t>, Sentence-BERT, CLIP, </a:t>
            </a:r>
            <a:r>
              <a:rPr lang="en-IN" sz="2000" dirty="0" err="1">
                <a:latin typeface="Times New Roman"/>
              </a:rPr>
              <a:t>XGBoost</a:t>
            </a:r>
            <a:r>
              <a:rPr lang="en-IN" sz="2000" dirty="0">
                <a:latin typeface="Times New Roman"/>
              </a:rPr>
              <a:t>, Random Forest, LSTM/hybrid deep learning, GCN/</a:t>
            </a:r>
            <a:r>
              <a:rPr lang="en-IN" sz="2000" dirty="0" err="1">
                <a:latin typeface="Times New Roman"/>
              </a:rPr>
              <a:t>GNNExplainer</a:t>
            </a:r>
            <a:r>
              <a:rPr lang="en-IN" sz="2000" dirty="0">
                <a:latin typeface="Times New Roman"/>
              </a:rPr>
              <a:t>, cosine-similarity methods, Whisper, and IndicTrans2.</a:t>
            </a:r>
            <a:endParaRPr lang="en-IN" sz="2000" dirty="0">
              <a:latin typeface="Times New Roman" panose="02020603050405020304" pitchFamily="18" charset="0"/>
              <a:cs typeface="Times New Roman" panose="02020603050405020304" pitchFamily="18" charset="0"/>
            </a:endParaRPr>
          </a:p>
          <a:p>
            <a:r>
              <a:rPr lang="en-IN" sz="2300" b="1" dirty="0">
                <a:latin typeface="Times New Roman" panose="02020603050405020304" pitchFamily="18" charset="0"/>
                <a:cs typeface="Times New Roman" panose="02020603050405020304" pitchFamily="18" charset="0"/>
              </a:rPr>
              <a:t>Common evaluation metrics: </a:t>
            </a:r>
            <a:r>
              <a:rPr lang="en-US" sz="2000" dirty="0">
                <a:latin typeface="Times New Roman"/>
              </a:rPr>
              <a:t>Accuracy, Precision, Recall, F1-Score, </a:t>
            </a:r>
            <a:r>
              <a:rPr lang="en-US" sz="2000" dirty="0" err="1">
                <a:latin typeface="Times New Roman"/>
              </a:rPr>
              <a:t>mAP</a:t>
            </a:r>
            <a:r>
              <a:rPr lang="en-US" sz="2000" dirty="0">
                <a:latin typeface="Times New Roman"/>
              </a:rPr>
              <a:t>, </a:t>
            </a:r>
            <a:r>
              <a:rPr lang="en-US" sz="2000" dirty="0" err="1">
                <a:latin typeface="Times New Roman"/>
              </a:rPr>
              <a:t>IoU</a:t>
            </a:r>
            <a:r>
              <a:rPr lang="en-US" sz="2000" dirty="0">
                <a:latin typeface="Times New Roman"/>
              </a:rPr>
              <a:t>, MAE, RMSE, R², forecasting error, spatial analysis, response/resolution efficiency, and citizen-engagement measures.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5176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CD4355-0DD7-E4B9-DCDE-45BA6A330E50}"/>
              </a:ext>
            </a:extLst>
          </p:cNvPr>
          <p:cNvSpPr>
            <a:spLocks noGrp="1"/>
          </p:cNvSpPr>
          <p:nvPr>
            <p:ph idx="1"/>
          </p:nvPr>
        </p:nvSpPr>
        <p:spPr>
          <a:xfrm>
            <a:off x="385011" y="352926"/>
            <a:ext cx="10968789" cy="5824037"/>
          </a:xfrm>
        </p:spPr>
        <p:txBody>
          <a:bodyPr>
            <a:normAutofit fontScale="92500" lnSpcReduction="10000"/>
          </a:bodyPr>
          <a:lstStyle/>
          <a:p>
            <a:pPr marL="0" indent="0">
              <a:buNone/>
              <a:defRPr sz="2000" b="1" u="none">
                <a:solidFill>
                  <a:srgbClr val="000000"/>
                </a:solidFill>
                <a:latin typeface="Times New Roman"/>
              </a:defRPr>
            </a:pPr>
            <a:r>
              <a:rPr lang="en-IN" sz="2300" dirty="0">
                <a:latin typeface="Times New Roman" panose="02020603050405020304" pitchFamily="18" charset="0"/>
                <a:cs typeface="Times New Roman" panose="02020603050405020304" pitchFamily="18" charset="0"/>
              </a:rPr>
              <a:t>Papers by Research Area</a:t>
            </a:r>
          </a:p>
          <a:p>
            <a:r>
              <a:rPr lang="en-IN" sz="2000" dirty="0">
                <a:latin typeface="Times New Roman" panose="02020603050405020304" pitchFamily="18" charset="0"/>
                <a:cs typeface="Times New Roman" panose="02020603050405020304" pitchFamily="18" charset="0"/>
              </a:rPr>
              <a:t>Civic Issue Reporting &amp; Smart Governance — 6</a:t>
            </a:r>
          </a:p>
          <a:p>
            <a:r>
              <a:rPr lang="en-IN" sz="2000" dirty="0">
                <a:latin typeface="Times New Roman" panose="02020603050405020304" pitchFamily="18" charset="0"/>
                <a:cs typeface="Times New Roman" panose="02020603050405020304" pitchFamily="18" charset="0"/>
              </a:rPr>
              <a:t>Computer Vision &amp; Infrastructure Monitoring — 3</a:t>
            </a:r>
          </a:p>
          <a:p>
            <a:r>
              <a:rPr lang="en-IN" sz="2000" dirty="0">
                <a:latin typeface="Times New Roman" panose="02020603050405020304" pitchFamily="18" charset="0"/>
                <a:cs typeface="Times New Roman" panose="02020603050405020304" pitchFamily="18" charset="0"/>
              </a:rPr>
              <a:t>NLP, Multimodal &amp; Citizen Interaction — 3</a:t>
            </a:r>
          </a:p>
          <a:p>
            <a:r>
              <a:rPr lang="en-IN" sz="2000" dirty="0">
                <a:latin typeface="Times New Roman" panose="02020603050405020304" pitchFamily="18" charset="0"/>
                <a:cs typeface="Times New Roman" panose="02020603050405020304" pitchFamily="18" charset="0"/>
              </a:rPr>
              <a:t>GIS / </a:t>
            </a:r>
            <a:r>
              <a:rPr lang="en-IN" sz="2000" dirty="0" err="1">
                <a:latin typeface="Times New Roman" panose="02020603050405020304" pitchFamily="18" charset="0"/>
                <a:cs typeface="Times New Roman" panose="02020603050405020304" pitchFamily="18" charset="0"/>
              </a:rPr>
              <a:t>GeoAI</a:t>
            </a:r>
            <a:r>
              <a:rPr lang="en-IN" sz="2000" dirty="0">
                <a:latin typeface="Times New Roman" panose="02020603050405020304" pitchFamily="18" charset="0"/>
                <a:cs typeface="Times New Roman" panose="02020603050405020304" pitchFamily="18" charset="0"/>
              </a:rPr>
              <a:t> &amp; Spatial Urban Analytics — 3</a:t>
            </a:r>
          </a:p>
          <a:p>
            <a:r>
              <a:rPr lang="en-IN" sz="2000" dirty="0">
                <a:latin typeface="Times New Roman" panose="02020603050405020304" pitchFamily="18" charset="0"/>
                <a:cs typeface="Times New Roman" panose="02020603050405020304" pitchFamily="18" charset="0"/>
              </a:rPr>
              <a:t>Air Quality &amp; Pollution Prediction — 3</a:t>
            </a:r>
          </a:p>
          <a:p>
            <a:r>
              <a:rPr lang="en-IN" sz="2000" dirty="0">
                <a:latin typeface="Times New Roman" panose="02020603050405020304" pitchFamily="18" charset="0"/>
                <a:cs typeface="Times New Roman" panose="02020603050405020304" pitchFamily="18" charset="0"/>
              </a:rPr>
              <a:t>Water, Flood &amp; Groundwater Intelligence — 5</a:t>
            </a:r>
          </a:p>
          <a:p>
            <a:r>
              <a:rPr lang="en-IN" sz="2000" dirty="0">
                <a:latin typeface="Times New Roman" panose="02020603050405020304" pitchFamily="18" charset="0"/>
                <a:cs typeface="Times New Roman" panose="02020603050405020304" pitchFamily="18" charset="0"/>
              </a:rPr>
              <a:t>Explainable AI &amp; Decision Support — 1</a:t>
            </a:r>
          </a:p>
          <a:p>
            <a:r>
              <a:rPr lang="en-IN" sz="2300" dirty="0">
                <a:latin typeface="Times New Roman" panose="02020603050405020304" pitchFamily="18" charset="0"/>
                <a:cs typeface="Times New Roman" panose="02020603050405020304" pitchFamily="18" charset="0"/>
              </a:rPr>
              <a:t>Multilingual AI &amp; Speech Processing — 1</a:t>
            </a:r>
          </a:p>
          <a:p>
            <a:pPr marL="0" indent="0">
              <a:buNone/>
            </a:pPr>
            <a:r>
              <a:rPr lang="en-IN" sz="2300" b="1" dirty="0">
                <a:latin typeface="Times New Roman" panose="02020603050405020304" pitchFamily="18" charset="0"/>
                <a:cs typeface="Times New Roman" panose="02020603050405020304" pitchFamily="18" charset="0"/>
              </a:rPr>
              <a:t>Papers by Method </a:t>
            </a:r>
          </a:p>
          <a:p>
            <a:pPr lvl="0"/>
            <a:r>
              <a:rPr lang="en-IN" sz="2200" dirty="0">
                <a:latin typeface="Times New Roman" panose="02020603050405020304" pitchFamily="18" charset="0"/>
                <a:cs typeface="Times New Roman" panose="02020603050405020304" pitchFamily="18" charset="0"/>
              </a:rPr>
              <a:t>Classical Machine Learning &amp; Ensemble / Forecasting Models — 7 </a:t>
            </a:r>
          </a:p>
          <a:p>
            <a:pPr lvl="0"/>
            <a:r>
              <a:rPr lang="en-IN" sz="2200" dirty="0">
                <a:latin typeface="Times New Roman" panose="02020603050405020304" pitchFamily="18" charset="0"/>
                <a:cs typeface="Times New Roman" panose="02020603050405020304" pitchFamily="18" charset="0"/>
              </a:rPr>
              <a:t>AI / Deep Learning &amp; Computer Vision — 5 </a:t>
            </a:r>
          </a:p>
          <a:p>
            <a:pPr lvl="0"/>
            <a:r>
              <a:rPr lang="en-IN" sz="2200" dirty="0">
                <a:latin typeface="Times New Roman" panose="02020603050405020304" pitchFamily="18" charset="0"/>
                <a:cs typeface="Times New Roman" panose="02020603050405020304" pitchFamily="18" charset="0"/>
              </a:rPr>
              <a:t>Citizen-Sensing &amp; Workflow-Based Systems — 4 </a:t>
            </a:r>
          </a:p>
          <a:p>
            <a:pPr lvl="0"/>
            <a:r>
              <a:rPr lang="en-IN" sz="2200" dirty="0">
                <a:latin typeface="Times New Roman" panose="02020603050405020304" pitchFamily="18" charset="0"/>
                <a:cs typeface="Times New Roman" panose="02020603050405020304" pitchFamily="18" charset="0"/>
              </a:rPr>
              <a:t>GIS / </a:t>
            </a:r>
            <a:r>
              <a:rPr lang="en-IN" sz="2200" dirty="0" err="1">
                <a:latin typeface="Times New Roman" panose="02020603050405020304" pitchFamily="18" charset="0"/>
                <a:cs typeface="Times New Roman" panose="02020603050405020304" pitchFamily="18" charset="0"/>
              </a:rPr>
              <a:t>GeoAI</a:t>
            </a:r>
            <a:r>
              <a:rPr lang="en-IN" sz="2200" dirty="0">
                <a:latin typeface="Times New Roman" panose="02020603050405020304" pitchFamily="18" charset="0"/>
                <a:cs typeface="Times New Roman" panose="02020603050405020304" pitchFamily="18" charset="0"/>
              </a:rPr>
              <a:t>-Based Approaches — 3 </a:t>
            </a:r>
          </a:p>
          <a:p>
            <a:pPr lvl="0"/>
            <a:r>
              <a:rPr lang="en-IN" sz="2200" dirty="0">
                <a:latin typeface="Times New Roman" panose="02020603050405020304" pitchFamily="18" charset="0"/>
                <a:cs typeface="Times New Roman" panose="02020603050405020304" pitchFamily="18" charset="0"/>
              </a:rPr>
              <a:t>NLP / Embeddings / Multilingual AI — 3</a:t>
            </a:r>
          </a:p>
        </p:txBody>
      </p:sp>
    </p:spTree>
    <p:extLst>
      <p:ext uri="{BB962C8B-B14F-4D97-AF65-F5344CB8AC3E}">
        <p14:creationId xmlns:p14="http://schemas.microsoft.com/office/powerpoint/2010/main" val="1040173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B670-94CC-49EE-5540-DAF0B9D34583}"/>
              </a:ext>
            </a:extLst>
          </p:cNvPr>
          <p:cNvSpPr>
            <a:spLocks noGrp="1"/>
          </p:cNvSpPr>
          <p:nvPr>
            <p:ph type="title"/>
          </p:nvPr>
        </p:nvSpPr>
        <p:spPr>
          <a:xfrm>
            <a:off x="76201" y="-56147"/>
            <a:ext cx="10515600" cy="1325563"/>
          </a:xfrm>
        </p:spPr>
        <p:txBody>
          <a:bodyPr/>
          <a:lstStyle/>
          <a:p>
            <a:r>
              <a:rPr lang="en-IN" b="1" u="sng" dirty="0">
                <a:latin typeface="Times New Roman" panose="02020603050405020304" pitchFamily="18" charset="0"/>
                <a:cs typeface="Times New Roman" panose="02020603050405020304" pitchFamily="18" charset="0"/>
              </a:rPr>
              <a:t>Key Mechanisms &amp; Methodologies</a:t>
            </a:r>
          </a:p>
        </p:txBody>
      </p:sp>
      <p:graphicFrame>
        <p:nvGraphicFramePr>
          <p:cNvPr id="4" name="Content Placeholder 3">
            <a:extLst>
              <a:ext uri="{FF2B5EF4-FFF2-40B4-BE49-F238E27FC236}">
                <a16:creationId xmlns:a16="http://schemas.microsoft.com/office/drawing/2014/main" id="{E338F8E2-4226-9357-194A-942427DB0573}"/>
              </a:ext>
            </a:extLst>
          </p:cNvPr>
          <p:cNvGraphicFramePr>
            <a:graphicFrameLocks noGrp="1"/>
          </p:cNvGraphicFramePr>
          <p:nvPr>
            <p:ph idx="1"/>
            <p:extLst>
              <p:ext uri="{D42A27DB-BD31-4B8C-83A1-F6EECF244321}">
                <p14:modId xmlns:p14="http://schemas.microsoft.com/office/powerpoint/2010/main" val="94470578"/>
              </p:ext>
            </p:extLst>
          </p:nvPr>
        </p:nvGraphicFramePr>
        <p:xfrm>
          <a:off x="314827" y="1131444"/>
          <a:ext cx="11395912" cy="5501834"/>
        </p:xfrm>
        <a:graphic>
          <a:graphicData uri="http://schemas.openxmlformats.org/drawingml/2006/table">
            <a:tbl>
              <a:tblPr firstRow="1" bandRow="1">
                <a:tableStyleId>{5940675A-B579-460E-94D1-54222C63F5DA}</a:tableStyleId>
              </a:tblPr>
              <a:tblGrid>
                <a:gridCol w="2848978">
                  <a:extLst>
                    <a:ext uri="{9D8B030D-6E8A-4147-A177-3AD203B41FA5}">
                      <a16:colId xmlns:a16="http://schemas.microsoft.com/office/drawing/2014/main" val="19337444"/>
                    </a:ext>
                  </a:extLst>
                </a:gridCol>
                <a:gridCol w="2848978">
                  <a:extLst>
                    <a:ext uri="{9D8B030D-6E8A-4147-A177-3AD203B41FA5}">
                      <a16:colId xmlns:a16="http://schemas.microsoft.com/office/drawing/2014/main" val="230969390"/>
                    </a:ext>
                  </a:extLst>
                </a:gridCol>
                <a:gridCol w="2848978">
                  <a:extLst>
                    <a:ext uri="{9D8B030D-6E8A-4147-A177-3AD203B41FA5}">
                      <a16:colId xmlns:a16="http://schemas.microsoft.com/office/drawing/2014/main" val="445133416"/>
                    </a:ext>
                  </a:extLst>
                </a:gridCol>
                <a:gridCol w="2848978">
                  <a:extLst>
                    <a:ext uri="{9D8B030D-6E8A-4147-A177-3AD203B41FA5}">
                      <a16:colId xmlns:a16="http://schemas.microsoft.com/office/drawing/2014/main" val="3778991449"/>
                    </a:ext>
                  </a:extLst>
                </a:gridCol>
              </a:tblGrid>
              <a:tr h="658845">
                <a:tc>
                  <a:txBody>
                    <a:bodyPr/>
                    <a:lstStyle/>
                    <a:p>
                      <a:pPr algn="l"/>
                      <a:r>
                        <a:rPr lang="en-IN" sz="2300" b="1" dirty="0">
                          <a:latin typeface="Times New Roman" panose="02020603050405020304" pitchFamily="18" charset="0"/>
                          <a:cs typeface="Times New Roman" panose="02020603050405020304" pitchFamily="18" charset="0"/>
                        </a:rPr>
                        <a:t>Methodology</a:t>
                      </a:r>
                    </a:p>
                  </a:txBody>
                  <a:tcPr/>
                </a:tc>
                <a:tc>
                  <a:txBody>
                    <a:bodyPr/>
                    <a:lstStyle/>
                    <a:p>
                      <a:pPr algn="l"/>
                      <a:r>
                        <a:rPr lang="en-IN" sz="2300" b="1" dirty="0">
                          <a:latin typeface="Times New Roman" panose="02020603050405020304" pitchFamily="18" charset="0"/>
                          <a:cs typeface="Times New Roman" panose="02020603050405020304" pitchFamily="18" charset="0"/>
                        </a:rPr>
                        <a:t>Purpose</a:t>
                      </a:r>
                    </a:p>
                  </a:txBody>
                  <a:tcPr/>
                </a:tc>
                <a:tc>
                  <a:txBody>
                    <a:bodyPr/>
                    <a:lstStyle/>
                    <a:p>
                      <a:pPr algn="l"/>
                      <a:r>
                        <a:rPr lang="en-IN" sz="2300" b="1" dirty="0">
                          <a:latin typeface="Times New Roman" panose="02020603050405020304" pitchFamily="18" charset="0"/>
                          <a:cs typeface="Times New Roman" panose="02020603050405020304" pitchFamily="18" charset="0"/>
                        </a:rPr>
                        <a:t>Advantages</a:t>
                      </a:r>
                    </a:p>
                  </a:txBody>
                  <a:tcPr/>
                </a:tc>
                <a:tc>
                  <a:txBody>
                    <a:bodyPr/>
                    <a:lstStyle/>
                    <a:p>
                      <a:pPr algn="l"/>
                      <a:r>
                        <a:rPr lang="en-IN" sz="2300" b="1"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3164968370"/>
                  </a:ext>
                </a:extLst>
              </a:tr>
              <a:tr h="1099486">
                <a:tc>
                  <a:txBody>
                    <a:bodyPr/>
                    <a:lstStyle/>
                    <a:p>
                      <a:pPr algn="l"/>
                      <a:r>
                        <a:rPr lang="en-IN" sz="2000" b="0" dirty="0">
                          <a:latin typeface="Times New Roman" panose="02020603050405020304" pitchFamily="18" charset="0"/>
                          <a:cs typeface="Times New Roman" panose="02020603050405020304" pitchFamily="18" charset="0"/>
                        </a:rPr>
                        <a:t>Complaint Classification</a:t>
                      </a:r>
                    </a:p>
                    <a:p>
                      <a:pPr algn="l"/>
                      <a:r>
                        <a:rPr lang="en-IN" sz="2000" dirty="0"/>
                        <a:t>[1], [8]</a:t>
                      </a:r>
                      <a:endParaRPr lang="en-IN" sz="2000" b="0" dirty="0">
                        <a:latin typeface="Times New Roman" panose="02020603050405020304" pitchFamily="18" charset="0"/>
                        <a:cs typeface="Times New Roman" panose="02020603050405020304" pitchFamily="18" charset="0"/>
                      </a:endParaRPr>
                    </a:p>
                  </a:txBody>
                  <a:tcPr/>
                </a:tc>
                <a:tc>
                  <a:txBody>
                    <a:bodyPr/>
                    <a:lstStyle/>
                    <a:p>
                      <a:pPr algn="l"/>
                      <a:r>
                        <a:rPr lang="en-IN" sz="2000" b="0" dirty="0">
                          <a:latin typeface="Times New Roman" panose="02020603050405020304" pitchFamily="18" charset="0"/>
                          <a:cs typeface="Times New Roman" panose="02020603050405020304" pitchFamily="18" charset="0"/>
                        </a:rPr>
                        <a:t>Categorize citizen complaints using text/image information</a:t>
                      </a:r>
                    </a:p>
                  </a:txBody>
                  <a:tcPr/>
                </a:tc>
                <a:tc>
                  <a:txBody>
                    <a:bodyPr/>
                    <a:lstStyle/>
                    <a:p>
                      <a:pPr algn="l"/>
                      <a:r>
                        <a:rPr lang="en-IN" sz="2000" b="0" dirty="0">
                          <a:latin typeface="Times New Roman" panose="02020603050405020304" pitchFamily="18" charset="0"/>
                          <a:cs typeface="Times New Roman" panose="02020603050405020304" pitchFamily="18" charset="0"/>
                        </a:rPr>
                        <a:t>Faster routing and reduced manual effort</a:t>
                      </a:r>
                    </a:p>
                  </a:txBody>
                  <a:tcPr/>
                </a:tc>
                <a:tc>
                  <a:txBody>
                    <a:bodyPr/>
                    <a:lstStyle/>
                    <a:p>
                      <a:pPr algn="l"/>
                      <a:r>
                        <a:rPr lang="en-IN" sz="2000" b="0" dirty="0">
                          <a:latin typeface="Times New Roman" panose="02020603050405020304" pitchFamily="18" charset="0"/>
                          <a:cs typeface="Times New Roman" panose="02020603050405020304" pitchFamily="18" charset="0"/>
                        </a:rPr>
                        <a:t>Requires representative training data</a:t>
                      </a:r>
                    </a:p>
                  </a:txBody>
                  <a:tcPr/>
                </a:tc>
                <a:extLst>
                  <a:ext uri="{0D108BD9-81ED-4DB2-BD59-A6C34878D82A}">
                    <a16:rowId xmlns:a16="http://schemas.microsoft.com/office/drawing/2014/main" val="968639499"/>
                  </a:ext>
                </a:extLst>
              </a:tr>
              <a:tr h="1270667">
                <a:tc>
                  <a:txBody>
                    <a:bodyPr/>
                    <a:lstStyle/>
                    <a:p>
                      <a:pPr algn="l"/>
                      <a:r>
                        <a:rPr lang="en-IN" sz="2000" b="0" dirty="0">
                          <a:latin typeface="Times New Roman" panose="02020603050405020304" pitchFamily="18" charset="0"/>
                          <a:cs typeface="Times New Roman" panose="02020603050405020304" pitchFamily="18" charset="0"/>
                        </a:rPr>
                        <a:t>Multimodal Similarity &amp; Duplicate Detection</a:t>
                      </a:r>
                    </a:p>
                    <a:p>
                      <a:pPr algn="l"/>
                      <a:r>
                        <a:rPr lang="en-IN" sz="2000" dirty="0"/>
                        <a:t>[4], [5]</a:t>
                      </a:r>
                      <a:endParaRPr lang="en-IN" sz="2000" b="0" dirty="0">
                        <a:latin typeface="Times New Roman" panose="02020603050405020304" pitchFamily="18" charset="0"/>
                        <a:cs typeface="Times New Roman" panose="02020603050405020304" pitchFamily="18" charset="0"/>
                      </a:endParaRPr>
                    </a:p>
                  </a:txBody>
                  <a:tcPr/>
                </a:tc>
                <a:tc>
                  <a:txBody>
                    <a:bodyPr/>
                    <a:lstStyle/>
                    <a:p>
                      <a:pPr algn="l"/>
                      <a:r>
                        <a:rPr lang="en-IN" sz="2000" b="0" dirty="0">
                          <a:latin typeface="Times New Roman" panose="02020603050405020304" pitchFamily="18" charset="0"/>
                          <a:cs typeface="Times New Roman" panose="02020603050405020304" pitchFamily="18" charset="0"/>
                        </a:rPr>
                        <a:t>Identify semantically, visually, and geographically similar reports</a:t>
                      </a:r>
                    </a:p>
                  </a:txBody>
                  <a:tcPr/>
                </a:tc>
                <a:tc>
                  <a:txBody>
                    <a:bodyPr/>
                    <a:lstStyle/>
                    <a:p>
                      <a:pPr algn="l"/>
                      <a:r>
                        <a:rPr lang="en-IN" sz="2000" b="0" dirty="0">
                          <a:latin typeface="Times New Roman" panose="02020603050405020304" pitchFamily="18" charset="0"/>
                          <a:cs typeface="Times New Roman" panose="02020603050405020304" pitchFamily="18" charset="0"/>
                        </a:rPr>
                        <a:t>Prevents duplicate counting and improves data quality</a:t>
                      </a:r>
                    </a:p>
                  </a:txBody>
                  <a:tcPr/>
                </a:tc>
                <a:tc>
                  <a:txBody>
                    <a:bodyPr/>
                    <a:lstStyle/>
                    <a:p>
                      <a:pPr algn="l"/>
                      <a:r>
                        <a:rPr lang="en-IN" sz="2000" b="0" dirty="0">
                          <a:latin typeface="Times New Roman" panose="02020603050405020304" pitchFamily="18" charset="0"/>
                          <a:cs typeface="Times New Roman" panose="02020603050405020304" pitchFamily="18" charset="0"/>
                        </a:rPr>
                        <a:t>Similar reports may have different wording/images</a:t>
                      </a:r>
                    </a:p>
                  </a:txBody>
                  <a:tcPr/>
                </a:tc>
                <a:extLst>
                  <a:ext uri="{0D108BD9-81ED-4DB2-BD59-A6C34878D82A}">
                    <a16:rowId xmlns:a16="http://schemas.microsoft.com/office/drawing/2014/main" val="2445416827"/>
                  </a:ext>
                </a:extLst>
              </a:tr>
              <a:tr h="1162196">
                <a:tc>
                  <a:txBody>
                    <a:bodyPr/>
                    <a:lstStyle/>
                    <a:p>
                      <a:pPr algn="l">
                        <a:buNone/>
                      </a:pPr>
                      <a:r>
                        <a:rPr lang="en-IN" sz="2000" b="0" dirty="0">
                          <a:latin typeface="Times New Roman" panose="02020603050405020304" pitchFamily="18" charset="0"/>
                          <a:cs typeface="Times New Roman" panose="02020603050405020304" pitchFamily="18" charset="0"/>
                        </a:rPr>
                        <a:t>Complaint Prioritization</a:t>
                      </a:r>
                    </a:p>
                    <a:p>
                      <a:pPr algn="l">
                        <a:buNone/>
                      </a:pPr>
                      <a:r>
                        <a:rPr lang="en-IN" sz="2000" dirty="0"/>
                        <a:t>[3], [14]</a:t>
                      </a:r>
                      <a:endParaRPr lang="en-IN" sz="2000" b="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2000" b="0" dirty="0">
                          <a:latin typeface="Times New Roman" panose="02020603050405020304" pitchFamily="18" charset="0"/>
                          <a:cs typeface="Times New Roman" panose="02020603050405020304" pitchFamily="18" charset="0"/>
                        </a:rPr>
                        <a:t>Rank issues using severity, impact, engagement, and location</a:t>
                      </a:r>
                    </a:p>
                  </a:txBody>
                  <a:tcPr anchor="ctr"/>
                </a:tc>
                <a:tc>
                  <a:txBody>
                    <a:bodyPr/>
                    <a:lstStyle/>
                    <a:p>
                      <a:pPr algn="l">
                        <a:buNone/>
                      </a:pPr>
                      <a:r>
                        <a:rPr lang="en-IN" sz="2000" b="0">
                          <a:latin typeface="Times New Roman" panose="02020603050405020304" pitchFamily="18" charset="0"/>
                          <a:cs typeface="Times New Roman" panose="02020603050405020304" pitchFamily="18" charset="0"/>
                        </a:rPr>
                        <a:t>Supports efficient resource allocation</a:t>
                      </a:r>
                    </a:p>
                  </a:txBody>
                  <a:tcPr anchor="ctr"/>
                </a:tc>
                <a:tc>
                  <a:txBody>
                    <a:bodyPr/>
                    <a:lstStyle/>
                    <a:p>
                      <a:pPr algn="l">
                        <a:buNone/>
                      </a:pPr>
                      <a:r>
                        <a:rPr lang="en-IN" sz="2000" b="0" dirty="0">
                          <a:latin typeface="Times New Roman" panose="02020603050405020304" pitchFamily="18" charset="0"/>
                          <a:cs typeface="Times New Roman" panose="02020603050405020304" pitchFamily="18" charset="0"/>
                        </a:rPr>
                        <a:t>Depends on quality of priority factors</a:t>
                      </a:r>
                    </a:p>
                  </a:txBody>
                  <a:tcPr anchor="ctr"/>
                </a:tc>
                <a:extLst>
                  <a:ext uri="{0D108BD9-81ED-4DB2-BD59-A6C34878D82A}">
                    <a16:rowId xmlns:a16="http://schemas.microsoft.com/office/drawing/2014/main" val="1861787363"/>
                  </a:ext>
                </a:extLst>
              </a:tr>
              <a:tr h="1270667">
                <a:tc>
                  <a:txBody>
                    <a:bodyPr/>
                    <a:lstStyle/>
                    <a:p>
                      <a:pPr algn="l">
                        <a:buNone/>
                      </a:pPr>
                      <a:r>
                        <a:rPr lang="en-IN" sz="2000" b="0" dirty="0">
                          <a:latin typeface="Times New Roman" panose="02020603050405020304" pitchFamily="18" charset="0"/>
                          <a:cs typeface="Times New Roman" panose="02020603050405020304" pitchFamily="18" charset="0"/>
                        </a:rPr>
                        <a:t>GIS &amp; Spatial-Temporal Analysis</a:t>
                      </a:r>
                    </a:p>
                    <a:p>
                      <a:pPr algn="l">
                        <a:buNone/>
                      </a:pPr>
                      <a:r>
                        <a:rPr lang="en-IN" sz="2000" dirty="0"/>
                        <a:t>[6], [7], [14], [16]</a:t>
                      </a:r>
                      <a:endParaRPr lang="en-IN" sz="2000" b="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2000" b="0">
                          <a:latin typeface="Times New Roman" panose="02020603050405020304" pitchFamily="18" charset="0"/>
                          <a:cs typeface="Times New Roman" panose="02020603050405020304" pitchFamily="18" charset="0"/>
                        </a:rPr>
                        <a:t>Detect hotspots and recurring geographic patterns</a:t>
                      </a:r>
                    </a:p>
                  </a:txBody>
                  <a:tcPr anchor="ctr"/>
                </a:tc>
                <a:tc>
                  <a:txBody>
                    <a:bodyPr/>
                    <a:lstStyle/>
                    <a:p>
                      <a:pPr algn="l">
                        <a:buNone/>
                      </a:pPr>
                      <a:r>
                        <a:rPr lang="en-IN" sz="2000" b="0">
                          <a:latin typeface="Times New Roman" panose="02020603050405020304" pitchFamily="18" charset="0"/>
                          <a:cs typeface="Times New Roman" panose="02020603050405020304" pitchFamily="18" charset="0"/>
                        </a:rPr>
                        <a:t>Enables location-based planning</a:t>
                      </a:r>
                    </a:p>
                  </a:txBody>
                  <a:tcPr anchor="ctr"/>
                </a:tc>
                <a:tc>
                  <a:txBody>
                    <a:bodyPr/>
                    <a:lstStyle/>
                    <a:p>
                      <a:pPr algn="l">
                        <a:buNone/>
                      </a:pPr>
                      <a:r>
                        <a:rPr lang="en-IN" sz="2000" b="0" dirty="0">
                          <a:latin typeface="Times New Roman" panose="02020603050405020304" pitchFamily="18" charset="0"/>
                          <a:cs typeface="Times New Roman" panose="02020603050405020304" pitchFamily="18" charset="0"/>
                        </a:rPr>
                        <a:t>Requires accurate spatial and temporal data</a:t>
                      </a:r>
                    </a:p>
                  </a:txBody>
                  <a:tcPr anchor="ctr"/>
                </a:tc>
                <a:extLst>
                  <a:ext uri="{0D108BD9-81ED-4DB2-BD59-A6C34878D82A}">
                    <a16:rowId xmlns:a16="http://schemas.microsoft.com/office/drawing/2014/main" val="4261315948"/>
                  </a:ext>
                </a:extLst>
              </a:tr>
            </a:tbl>
          </a:graphicData>
        </a:graphic>
      </p:graphicFrame>
    </p:spTree>
    <p:extLst>
      <p:ext uri="{BB962C8B-B14F-4D97-AF65-F5344CB8AC3E}">
        <p14:creationId xmlns:p14="http://schemas.microsoft.com/office/powerpoint/2010/main" val="3518456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2B2D00D-3FD4-2D91-51B7-17ED56D94C43}"/>
              </a:ext>
            </a:extLst>
          </p:cNvPr>
          <p:cNvGraphicFramePr>
            <a:graphicFrameLocks noGrp="1"/>
          </p:cNvGraphicFramePr>
          <p:nvPr>
            <p:extLst>
              <p:ext uri="{D42A27DB-BD31-4B8C-83A1-F6EECF244321}">
                <p14:modId xmlns:p14="http://schemas.microsoft.com/office/powerpoint/2010/main" val="539137306"/>
              </p:ext>
            </p:extLst>
          </p:nvPr>
        </p:nvGraphicFramePr>
        <p:xfrm>
          <a:off x="569495" y="681790"/>
          <a:ext cx="10507580" cy="3772717"/>
        </p:xfrm>
        <a:graphic>
          <a:graphicData uri="http://schemas.openxmlformats.org/drawingml/2006/table">
            <a:tbl>
              <a:tblPr firstRow="1" bandRow="1">
                <a:tableStyleId>{5940675A-B579-460E-94D1-54222C63F5DA}</a:tableStyleId>
              </a:tblPr>
              <a:tblGrid>
                <a:gridCol w="2626895">
                  <a:extLst>
                    <a:ext uri="{9D8B030D-6E8A-4147-A177-3AD203B41FA5}">
                      <a16:colId xmlns:a16="http://schemas.microsoft.com/office/drawing/2014/main" val="3788742587"/>
                    </a:ext>
                  </a:extLst>
                </a:gridCol>
                <a:gridCol w="2626895">
                  <a:extLst>
                    <a:ext uri="{9D8B030D-6E8A-4147-A177-3AD203B41FA5}">
                      <a16:colId xmlns:a16="http://schemas.microsoft.com/office/drawing/2014/main" val="1448761472"/>
                    </a:ext>
                  </a:extLst>
                </a:gridCol>
                <a:gridCol w="2626895">
                  <a:extLst>
                    <a:ext uri="{9D8B030D-6E8A-4147-A177-3AD203B41FA5}">
                      <a16:colId xmlns:a16="http://schemas.microsoft.com/office/drawing/2014/main" val="3970910644"/>
                    </a:ext>
                  </a:extLst>
                </a:gridCol>
                <a:gridCol w="2626895">
                  <a:extLst>
                    <a:ext uri="{9D8B030D-6E8A-4147-A177-3AD203B41FA5}">
                      <a16:colId xmlns:a16="http://schemas.microsoft.com/office/drawing/2014/main" val="3927514014"/>
                    </a:ext>
                  </a:extLst>
                </a:gridCol>
              </a:tblGrid>
              <a:tr h="761999">
                <a:tc>
                  <a:txBody>
                    <a:bodyPr/>
                    <a:lstStyle/>
                    <a:p>
                      <a:r>
                        <a:rPr lang="en-IN" sz="2300" b="1" dirty="0">
                          <a:latin typeface="Times New Roman" panose="02020603050405020304" pitchFamily="18" charset="0"/>
                          <a:cs typeface="Times New Roman" panose="02020603050405020304" pitchFamily="18" charset="0"/>
                        </a:rPr>
                        <a:t>Methodology</a:t>
                      </a:r>
                    </a:p>
                  </a:txBody>
                  <a:tcPr/>
                </a:tc>
                <a:tc>
                  <a:txBody>
                    <a:bodyPr/>
                    <a:lstStyle/>
                    <a:p>
                      <a:r>
                        <a:rPr lang="en-IN" sz="2300" b="1" dirty="0">
                          <a:latin typeface="Times New Roman" panose="02020603050405020304" pitchFamily="18" charset="0"/>
                          <a:cs typeface="Times New Roman" panose="02020603050405020304" pitchFamily="18" charset="0"/>
                        </a:rPr>
                        <a:t>Purpose</a:t>
                      </a:r>
                    </a:p>
                  </a:txBody>
                  <a:tcPr/>
                </a:tc>
                <a:tc>
                  <a:txBody>
                    <a:bodyPr/>
                    <a:lstStyle/>
                    <a:p>
                      <a:r>
                        <a:rPr lang="en-IN" sz="2300" b="1" dirty="0">
                          <a:latin typeface="Times New Roman" panose="02020603050405020304" pitchFamily="18" charset="0"/>
                          <a:cs typeface="Times New Roman" panose="02020603050405020304" pitchFamily="18" charset="0"/>
                        </a:rPr>
                        <a:t>Advantages</a:t>
                      </a:r>
                    </a:p>
                  </a:txBody>
                  <a:tcPr/>
                </a:tc>
                <a:tc>
                  <a:txBody>
                    <a:bodyPr/>
                    <a:lstStyle/>
                    <a:p>
                      <a:r>
                        <a:rPr lang="en-IN" sz="2300" b="1"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3246196208"/>
                  </a:ext>
                </a:extLst>
              </a:tr>
              <a:tr h="1505359">
                <a:tc>
                  <a:txBody>
                    <a:bodyPr/>
                    <a:lstStyle/>
                    <a:p>
                      <a:pPr>
                        <a:buNone/>
                      </a:pPr>
                      <a:r>
                        <a:rPr lang="en-IN" sz="2000" b="0" dirty="0">
                          <a:latin typeface="Times New Roman" panose="02020603050405020304" pitchFamily="18" charset="0"/>
                          <a:cs typeface="Times New Roman" panose="02020603050405020304" pitchFamily="18" charset="0"/>
                        </a:rPr>
                        <a:t>Air-Quality Forecasting</a:t>
                      </a:r>
                    </a:p>
                    <a:p>
                      <a:pPr>
                        <a:buNone/>
                      </a:pPr>
                      <a:r>
                        <a:rPr lang="en-IN" sz="2000" dirty="0"/>
                        <a:t>[9], [15], [16]</a:t>
                      </a:r>
                      <a:endParaRPr lang="en-IN" sz="2000" b="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Predict AQI/PM₂.₅ using environmental variables</a:t>
                      </a:r>
                    </a:p>
                  </a:txBody>
                  <a:tcPr anchor="ctr"/>
                </a:tc>
                <a:tc>
                  <a:txBody>
                    <a:bodyPr/>
                    <a:lstStyle/>
                    <a:p>
                      <a:pPr>
                        <a:buNone/>
                      </a:pPr>
                      <a:r>
                        <a:rPr lang="en-IN" sz="2000" b="0">
                          <a:latin typeface="Times New Roman" panose="02020603050405020304" pitchFamily="18" charset="0"/>
                          <a:cs typeface="Times New Roman" panose="02020603050405020304" pitchFamily="18" charset="0"/>
                        </a:rPr>
                        <a:t>Enables pollution alerts and mitigation planning</a:t>
                      </a:r>
                    </a:p>
                  </a:txBody>
                  <a:tcPr anchor="ctr"/>
                </a:tc>
                <a:tc>
                  <a:txBody>
                    <a:bodyPr/>
                    <a:lstStyle/>
                    <a:p>
                      <a:pPr>
                        <a:buNone/>
                      </a:pPr>
                      <a:r>
                        <a:rPr lang="en-IN" sz="2000" b="0">
                          <a:latin typeface="Times New Roman" panose="02020603050405020304" pitchFamily="18" charset="0"/>
                          <a:cs typeface="Times New Roman" panose="02020603050405020304" pitchFamily="18" charset="0"/>
                        </a:rPr>
                        <a:t>Pollution has many external influencing factors</a:t>
                      </a:r>
                    </a:p>
                  </a:txBody>
                  <a:tcPr anchor="ctr"/>
                </a:tc>
                <a:extLst>
                  <a:ext uri="{0D108BD9-81ED-4DB2-BD59-A6C34878D82A}">
                    <a16:rowId xmlns:a16="http://schemas.microsoft.com/office/drawing/2014/main" val="2385754153"/>
                  </a:ext>
                </a:extLst>
              </a:tr>
              <a:tr h="1505359">
                <a:tc>
                  <a:txBody>
                    <a:bodyPr/>
                    <a:lstStyle/>
                    <a:p>
                      <a:pPr>
                        <a:buNone/>
                      </a:pPr>
                      <a:r>
                        <a:rPr lang="en-IN" sz="2000" b="0" dirty="0">
                          <a:latin typeface="Times New Roman" panose="02020603050405020304" pitchFamily="18" charset="0"/>
                          <a:cs typeface="Times New Roman" panose="02020603050405020304" pitchFamily="18" charset="0"/>
                        </a:rPr>
                        <a:t>Groundwater-Level Prediction</a:t>
                      </a:r>
                    </a:p>
                    <a:p>
                      <a:pPr>
                        <a:buNone/>
                      </a:pPr>
                      <a:r>
                        <a:rPr lang="en-IN" sz="2000" dirty="0"/>
                        <a:t>[10]</a:t>
                      </a:r>
                      <a:endParaRPr lang="en-IN" sz="2000" b="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Predict groundwater trends from rainfall and hydro-climatic data</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Supports water-resource planning</a:t>
                      </a:r>
                    </a:p>
                  </a:txBody>
                  <a:tcPr anchor="ctr"/>
                </a:tc>
                <a:tc>
                  <a:txBody>
                    <a:bodyPr/>
                    <a:lstStyle/>
                    <a:p>
                      <a:pPr>
                        <a:buNone/>
                      </a:pPr>
                      <a:r>
                        <a:rPr lang="en-IN" sz="2000" b="0" dirty="0">
                          <a:latin typeface="Times New Roman" panose="02020603050405020304" pitchFamily="18" charset="0"/>
                          <a:cs typeface="Times New Roman" panose="02020603050405020304" pitchFamily="18" charset="0"/>
                        </a:rPr>
                        <a:t>Groundwater depends on local geology and extraction</a:t>
                      </a:r>
                    </a:p>
                  </a:txBody>
                  <a:tcPr anchor="ctr"/>
                </a:tc>
                <a:extLst>
                  <a:ext uri="{0D108BD9-81ED-4DB2-BD59-A6C34878D82A}">
                    <a16:rowId xmlns:a16="http://schemas.microsoft.com/office/drawing/2014/main" val="1800885977"/>
                  </a:ext>
                </a:extLst>
              </a:tr>
            </a:tbl>
          </a:graphicData>
        </a:graphic>
      </p:graphicFrame>
    </p:spTree>
    <p:extLst>
      <p:ext uri="{BB962C8B-B14F-4D97-AF65-F5344CB8AC3E}">
        <p14:creationId xmlns:p14="http://schemas.microsoft.com/office/powerpoint/2010/main" val="3402792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7804D-6036-45EE-514F-87D111B92DD4}"/>
              </a:ext>
            </a:extLst>
          </p:cNvPr>
          <p:cNvSpPr>
            <a:spLocks noGrp="1"/>
          </p:cNvSpPr>
          <p:nvPr>
            <p:ph type="title"/>
          </p:nvPr>
        </p:nvSpPr>
        <p:spPr>
          <a:xfrm>
            <a:off x="140368" y="0"/>
            <a:ext cx="10515600" cy="1325563"/>
          </a:xfrm>
        </p:spPr>
        <p:txBody>
          <a:bodyPr/>
          <a:lstStyle/>
          <a:p>
            <a:r>
              <a:rPr lang="en-IN" b="1" u="sng" dirty="0">
                <a:latin typeface="Times New Roman" panose="02020603050405020304" pitchFamily="18" charset="0"/>
                <a:cs typeface="Times New Roman" panose="02020603050405020304" pitchFamily="18" charset="0"/>
              </a:rPr>
              <a:t>Comparative Analysis</a:t>
            </a:r>
          </a:p>
        </p:txBody>
      </p:sp>
      <p:graphicFrame>
        <p:nvGraphicFramePr>
          <p:cNvPr id="4" name="Content Placeholder 3">
            <a:extLst>
              <a:ext uri="{FF2B5EF4-FFF2-40B4-BE49-F238E27FC236}">
                <a16:creationId xmlns:a16="http://schemas.microsoft.com/office/drawing/2014/main" id="{7F0C14F3-7718-5108-0AED-5B7EA48444E9}"/>
              </a:ext>
            </a:extLst>
          </p:cNvPr>
          <p:cNvGraphicFramePr>
            <a:graphicFrameLocks noGrp="1"/>
          </p:cNvGraphicFramePr>
          <p:nvPr>
            <p:ph idx="1"/>
            <p:extLst>
              <p:ext uri="{D42A27DB-BD31-4B8C-83A1-F6EECF244321}">
                <p14:modId xmlns:p14="http://schemas.microsoft.com/office/powerpoint/2010/main" val="4077261461"/>
              </p:ext>
            </p:extLst>
          </p:nvPr>
        </p:nvGraphicFramePr>
        <p:xfrm>
          <a:off x="439152" y="1112519"/>
          <a:ext cx="11313695" cy="4975459"/>
        </p:xfrm>
        <a:graphic>
          <a:graphicData uri="http://schemas.openxmlformats.org/drawingml/2006/table">
            <a:tbl>
              <a:tblPr firstRow="1" bandRow="1">
                <a:tableStyleId>{5940675A-B579-460E-94D1-54222C63F5DA}</a:tableStyleId>
              </a:tblPr>
              <a:tblGrid>
                <a:gridCol w="866172">
                  <a:extLst>
                    <a:ext uri="{9D8B030D-6E8A-4147-A177-3AD203B41FA5}">
                      <a16:colId xmlns:a16="http://schemas.microsoft.com/office/drawing/2014/main" val="608408576"/>
                    </a:ext>
                  </a:extLst>
                </a:gridCol>
                <a:gridCol w="1097863">
                  <a:extLst>
                    <a:ext uri="{9D8B030D-6E8A-4147-A177-3AD203B41FA5}">
                      <a16:colId xmlns:a16="http://schemas.microsoft.com/office/drawing/2014/main" val="2186932717"/>
                    </a:ext>
                  </a:extLst>
                </a:gridCol>
                <a:gridCol w="2095921">
                  <a:extLst>
                    <a:ext uri="{9D8B030D-6E8A-4147-A177-3AD203B41FA5}">
                      <a16:colId xmlns:a16="http://schemas.microsoft.com/office/drawing/2014/main" val="3011710811"/>
                    </a:ext>
                  </a:extLst>
                </a:gridCol>
                <a:gridCol w="2495143">
                  <a:extLst>
                    <a:ext uri="{9D8B030D-6E8A-4147-A177-3AD203B41FA5}">
                      <a16:colId xmlns:a16="http://schemas.microsoft.com/office/drawing/2014/main" val="3707956855"/>
                    </a:ext>
                  </a:extLst>
                </a:gridCol>
                <a:gridCol w="1996115">
                  <a:extLst>
                    <a:ext uri="{9D8B030D-6E8A-4147-A177-3AD203B41FA5}">
                      <a16:colId xmlns:a16="http://schemas.microsoft.com/office/drawing/2014/main" val="2685395656"/>
                    </a:ext>
                  </a:extLst>
                </a:gridCol>
                <a:gridCol w="2762481">
                  <a:extLst>
                    <a:ext uri="{9D8B030D-6E8A-4147-A177-3AD203B41FA5}">
                      <a16:colId xmlns:a16="http://schemas.microsoft.com/office/drawing/2014/main" val="1097169832"/>
                    </a:ext>
                  </a:extLst>
                </a:gridCol>
              </a:tblGrid>
              <a:tr h="425533">
                <a:tc>
                  <a:txBody>
                    <a:bodyPr/>
                    <a:lstStyle/>
                    <a:p>
                      <a:r>
                        <a:rPr lang="en-IN" sz="2000" b="1" dirty="0">
                          <a:latin typeface="Times New Roman" panose="02020603050405020304" pitchFamily="18" charset="0"/>
                          <a:cs typeface="Times New Roman" panose="02020603050405020304" pitchFamily="18" charset="0"/>
                        </a:rPr>
                        <a:t>Ref.</a:t>
                      </a:r>
                    </a:p>
                  </a:txBody>
                  <a:tcPr/>
                </a:tc>
                <a:tc>
                  <a:txBody>
                    <a:bodyPr/>
                    <a:lstStyle/>
                    <a:p>
                      <a:r>
                        <a:rPr lang="en-IN" sz="2000" b="1" dirty="0">
                          <a:latin typeface="Times New Roman" panose="02020603050405020304" pitchFamily="18" charset="0"/>
                          <a:cs typeface="Times New Roman" panose="02020603050405020304" pitchFamily="18" charset="0"/>
                        </a:rPr>
                        <a:t>Year</a:t>
                      </a:r>
                    </a:p>
                  </a:txBody>
                  <a:tcPr/>
                </a:tc>
                <a:tc>
                  <a:txBody>
                    <a:bodyPr/>
                    <a:lstStyle/>
                    <a:p>
                      <a:r>
                        <a:rPr lang="en-IN" sz="2000" b="1" dirty="0">
                          <a:latin typeface="Times New Roman" panose="02020603050405020304" pitchFamily="18" charset="0"/>
                          <a:cs typeface="Times New Roman" panose="02020603050405020304" pitchFamily="18" charset="0"/>
                        </a:rPr>
                        <a:t>Dataset</a:t>
                      </a:r>
                    </a:p>
                  </a:txBody>
                  <a:tcPr/>
                </a:tc>
                <a:tc>
                  <a:txBody>
                    <a:bodyPr/>
                    <a:lstStyle/>
                    <a:p>
                      <a:r>
                        <a:rPr lang="en-IN" sz="2000" b="1" dirty="0">
                          <a:latin typeface="Times New Roman" panose="02020603050405020304" pitchFamily="18" charset="0"/>
                          <a:cs typeface="Times New Roman" panose="02020603050405020304" pitchFamily="18" charset="0"/>
                        </a:rPr>
                        <a:t>Algorithm/Model</a:t>
                      </a:r>
                    </a:p>
                  </a:txBody>
                  <a:tcPr/>
                </a:tc>
                <a:tc>
                  <a:txBody>
                    <a:bodyPr/>
                    <a:lstStyle/>
                    <a:p>
                      <a:r>
                        <a:rPr lang="en-IN" sz="2000" b="1" dirty="0">
                          <a:latin typeface="Times New Roman" panose="02020603050405020304" pitchFamily="18" charset="0"/>
                          <a:cs typeface="Times New Roman" panose="02020603050405020304" pitchFamily="18" charset="0"/>
                        </a:rPr>
                        <a:t>Evaluation</a:t>
                      </a:r>
                    </a:p>
                  </a:txBody>
                  <a:tcPr/>
                </a:tc>
                <a:tc>
                  <a:txBody>
                    <a:bodyPr/>
                    <a:lstStyle/>
                    <a:p>
                      <a:r>
                        <a:rPr lang="en-IN" sz="2000" b="1" dirty="0">
                          <a:latin typeface="Times New Roman" panose="02020603050405020304" pitchFamily="18" charset="0"/>
                          <a:cs typeface="Times New Roman" panose="02020603050405020304" pitchFamily="18" charset="0"/>
                        </a:rPr>
                        <a:t>Major Finding</a:t>
                      </a:r>
                    </a:p>
                  </a:txBody>
                  <a:tcPr/>
                </a:tc>
                <a:extLst>
                  <a:ext uri="{0D108BD9-81ED-4DB2-BD59-A6C34878D82A}">
                    <a16:rowId xmlns:a16="http://schemas.microsoft.com/office/drawing/2014/main" val="2082411093"/>
                  </a:ext>
                </a:extLst>
              </a:tr>
              <a:tr h="1734864">
                <a:tc>
                  <a:txBody>
                    <a:bodyPr/>
                    <a:lstStyle/>
                    <a:p>
                      <a:r>
                        <a:rPr lang="en-IN" sz="2000" dirty="0">
                          <a:latin typeface="Times New Roman" panose="02020603050405020304" pitchFamily="18" charset="0"/>
                          <a:cs typeface="Times New Roman" panose="02020603050405020304" pitchFamily="18" charset="0"/>
                        </a:rPr>
                        <a:t>[1]</a:t>
                      </a:r>
                    </a:p>
                  </a:txBody>
                  <a:tcPr/>
                </a:tc>
                <a:tc>
                  <a:txBody>
                    <a:bodyPr/>
                    <a:lstStyle/>
                    <a:p>
                      <a:r>
                        <a:rPr lang="en-IN" sz="2000" dirty="0">
                          <a:latin typeface="Times New Roman" panose="02020603050405020304" pitchFamily="18" charset="0"/>
                          <a:cs typeface="Times New Roman" panose="02020603050405020304" pitchFamily="18" charset="0"/>
                        </a:rPr>
                        <a:t>2024</a:t>
                      </a:r>
                    </a:p>
                  </a:txBody>
                  <a:tcPr/>
                </a:tc>
                <a:tc>
                  <a:txBody>
                    <a:bodyPr/>
                    <a:lstStyle/>
                    <a:p>
                      <a:r>
                        <a:rPr lang="en-IN" sz="2000" dirty="0" err="1"/>
                        <a:t>CitySolution</a:t>
                      </a:r>
                      <a:r>
                        <a:rPr lang="en-IN" sz="2000" dirty="0"/>
                        <a:t> complaint images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Deep Learning / Teachable Machine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Accuracy, Sensitivity, Specificity</a:t>
                      </a:r>
                    </a:p>
                  </a:txBody>
                  <a:tcPr/>
                </a:tc>
                <a:tc>
                  <a:txBody>
                    <a:bodyPr/>
                    <a:lstStyle/>
                    <a:p>
                      <a:r>
                        <a:rPr lang="en-IN" sz="2000" dirty="0"/>
                        <a:t>Demonstrates automated civic complaint classification and authority-side complaint monitoring. </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15327126"/>
                  </a:ext>
                </a:extLst>
              </a:tr>
              <a:tr h="1407531">
                <a:tc>
                  <a:txBody>
                    <a:bodyPr/>
                    <a:lstStyle/>
                    <a:p>
                      <a:r>
                        <a:rPr lang="en-IN" sz="2000" dirty="0">
                          <a:latin typeface="Times New Roman" panose="02020603050405020304" pitchFamily="18" charset="0"/>
                          <a:cs typeface="Times New Roman" panose="02020603050405020304" pitchFamily="18" charset="0"/>
                        </a:rPr>
                        <a:t>[3]</a:t>
                      </a:r>
                    </a:p>
                  </a:txBody>
                  <a:tcPr/>
                </a:tc>
                <a:tc>
                  <a:txBody>
                    <a:bodyPr/>
                    <a:lstStyle/>
                    <a:p>
                      <a:r>
                        <a:rPr lang="en-IN" sz="2000" dirty="0">
                          <a:latin typeface="Times New Roman" panose="02020603050405020304" pitchFamily="18" charset="0"/>
                          <a:cs typeface="Times New Roman" panose="02020603050405020304" pitchFamily="18" charset="0"/>
                        </a:rPr>
                        <a:t>2022</a:t>
                      </a:r>
                    </a:p>
                  </a:txBody>
                  <a:tcPr/>
                </a:tc>
                <a:tc>
                  <a:txBody>
                    <a:bodyPr/>
                    <a:lstStyle/>
                    <a:p>
                      <a:r>
                        <a:rPr lang="en-IN" sz="2000" dirty="0"/>
                        <a:t>IDD, RDD2020, RSDD</a:t>
                      </a:r>
                      <a:endParaRPr lang="en-IN" sz="2000" dirty="0">
                        <a:latin typeface="Times New Roman" panose="02020603050405020304" pitchFamily="18" charset="0"/>
                        <a:cs typeface="Times New Roman" panose="02020603050405020304" pitchFamily="18" charset="0"/>
                      </a:endParaRPr>
                    </a:p>
                  </a:txBody>
                  <a:tcPr/>
                </a:tc>
                <a:tc>
                  <a:txBody>
                    <a:bodyPr/>
                    <a:lstStyle/>
                    <a:p>
                      <a:pPr>
                        <a:buNone/>
                      </a:pPr>
                      <a:r>
                        <a:rPr lang="en-IN" dirty="0"/>
                        <a:t>ResNet34+U-Net, YOLOv5, </a:t>
                      </a:r>
                      <a:r>
                        <a:rPr lang="en-IN" dirty="0" err="1"/>
                        <a:t>EfficientDet</a:t>
                      </a:r>
                      <a:r>
                        <a:rPr lang="en-IN" dirty="0"/>
                        <a:t>, SIFT + FLANN</a:t>
                      </a:r>
                    </a:p>
                  </a:txBody>
                  <a:tcPr anchor="ctr"/>
                </a:tc>
                <a:tc>
                  <a:txBody>
                    <a:bodyPr/>
                    <a:lstStyle/>
                    <a:p>
                      <a:r>
                        <a:rPr lang="en-IN" sz="2000" dirty="0" err="1"/>
                        <a:t>IoU</a:t>
                      </a:r>
                      <a:r>
                        <a:rPr lang="en-IN" sz="2000" dirty="0"/>
                        <a:t>, AP, </a:t>
                      </a:r>
                      <a:r>
                        <a:rPr lang="en-IN" sz="2000" dirty="0" err="1"/>
                        <a:t>mAP</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Combines road-damage detection, duplicate detection, and spatial prioritization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90392835"/>
                  </a:ext>
                </a:extLst>
              </a:tr>
              <a:tr h="1407531">
                <a:tc>
                  <a:txBody>
                    <a:bodyPr/>
                    <a:lstStyle/>
                    <a:p>
                      <a:r>
                        <a:rPr lang="en-IN" sz="2000" dirty="0">
                          <a:latin typeface="Times New Roman" panose="02020603050405020304" pitchFamily="18" charset="0"/>
                          <a:cs typeface="Times New Roman" panose="02020603050405020304" pitchFamily="18" charset="0"/>
                        </a:rPr>
                        <a:t>[4]</a:t>
                      </a:r>
                    </a:p>
                  </a:txBody>
                  <a:tcPr/>
                </a:tc>
                <a:tc>
                  <a:txBody>
                    <a:bodyPr/>
                    <a:lstStyle/>
                    <a:p>
                      <a:r>
                        <a:rPr lang="en-IN" sz="2000" dirty="0">
                          <a:latin typeface="Times New Roman" panose="02020603050405020304" pitchFamily="18" charset="0"/>
                          <a:cs typeface="Times New Roman" panose="02020603050405020304" pitchFamily="18" charset="0"/>
                        </a:rPr>
                        <a:t>2021</a:t>
                      </a:r>
                    </a:p>
                  </a:txBody>
                  <a:tcPr/>
                </a:tc>
                <a:tc>
                  <a:txBody>
                    <a:bodyPr/>
                    <a:lstStyle/>
                    <a:p>
                      <a:r>
                        <a:rPr lang="en-IN" sz="2000" dirty="0"/>
                        <a:t>STS Benchmark, SNLI and related sentence-pair datasets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Sentence-BERT (Siamese BERT)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Semantic similarity / correlation metrics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Sentence embeddings enable efficient comparison of semantic similarity.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7093647"/>
                  </a:ext>
                </a:extLst>
              </a:tr>
            </a:tbl>
          </a:graphicData>
        </a:graphic>
      </p:graphicFrame>
    </p:spTree>
    <p:extLst>
      <p:ext uri="{BB962C8B-B14F-4D97-AF65-F5344CB8AC3E}">
        <p14:creationId xmlns:p14="http://schemas.microsoft.com/office/powerpoint/2010/main" val="927728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751A0F5-04AD-1EC3-E1BB-C56C505D25D2}"/>
              </a:ext>
            </a:extLst>
          </p:cNvPr>
          <p:cNvGraphicFramePr>
            <a:graphicFrameLocks noGrp="1"/>
          </p:cNvGraphicFramePr>
          <p:nvPr>
            <p:extLst>
              <p:ext uri="{D42A27DB-BD31-4B8C-83A1-F6EECF244321}">
                <p14:modId xmlns:p14="http://schemas.microsoft.com/office/powerpoint/2010/main" val="1084342104"/>
              </p:ext>
            </p:extLst>
          </p:nvPr>
        </p:nvGraphicFramePr>
        <p:xfrm>
          <a:off x="717884" y="502920"/>
          <a:ext cx="10515600" cy="5547360"/>
        </p:xfrm>
        <a:graphic>
          <a:graphicData uri="http://schemas.openxmlformats.org/drawingml/2006/table">
            <a:tbl>
              <a:tblPr firstRow="1" bandRow="1">
                <a:tableStyleId>{5940675A-B579-460E-94D1-54222C63F5DA}</a:tableStyleId>
              </a:tblPr>
              <a:tblGrid>
                <a:gridCol w="805070">
                  <a:extLst>
                    <a:ext uri="{9D8B030D-6E8A-4147-A177-3AD203B41FA5}">
                      <a16:colId xmlns:a16="http://schemas.microsoft.com/office/drawing/2014/main" val="1419170633"/>
                    </a:ext>
                  </a:extLst>
                </a:gridCol>
                <a:gridCol w="1020417">
                  <a:extLst>
                    <a:ext uri="{9D8B030D-6E8A-4147-A177-3AD203B41FA5}">
                      <a16:colId xmlns:a16="http://schemas.microsoft.com/office/drawing/2014/main" val="1669231380"/>
                    </a:ext>
                  </a:extLst>
                </a:gridCol>
                <a:gridCol w="1980502">
                  <a:extLst>
                    <a:ext uri="{9D8B030D-6E8A-4147-A177-3AD203B41FA5}">
                      <a16:colId xmlns:a16="http://schemas.microsoft.com/office/drawing/2014/main" val="296735011"/>
                    </a:ext>
                  </a:extLst>
                </a:gridCol>
                <a:gridCol w="2366210">
                  <a:extLst>
                    <a:ext uri="{9D8B030D-6E8A-4147-A177-3AD203B41FA5}">
                      <a16:colId xmlns:a16="http://schemas.microsoft.com/office/drawing/2014/main" val="3897365519"/>
                    </a:ext>
                  </a:extLst>
                </a:gridCol>
                <a:gridCol w="1780675">
                  <a:extLst>
                    <a:ext uri="{9D8B030D-6E8A-4147-A177-3AD203B41FA5}">
                      <a16:colId xmlns:a16="http://schemas.microsoft.com/office/drawing/2014/main" val="1558818316"/>
                    </a:ext>
                  </a:extLst>
                </a:gridCol>
                <a:gridCol w="2562726">
                  <a:extLst>
                    <a:ext uri="{9D8B030D-6E8A-4147-A177-3AD203B41FA5}">
                      <a16:colId xmlns:a16="http://schemas.microsoft.com/office/drawing/2014/main" val="820821905"/>
                    </a:ext>
                  </a:extLst>
                </a:gridCol>
              </a:tblGrid>
              <a:tr h="370840">
                <a:tc>
                  <a:txBody>
                    <a:bodyPr/>
                    <a:lstStyle/>
                    <a:p>
                      <a:r>
                        <a:rPr lang="en-IN" sz="2000" b="1" dirty="0">
                          <a:latin typeface="Times New Roman" panose="02020603050405020304" pitchFamily="18" charset="0"/>
                          <a:cs typeface="Times New Roman" panose="02020603050405020304" pitchFamily="18" charset="0"/>
                        </a:rPr>
                        <a:t>Ref.</a:t>
                      </a:r>
                    </a:p>
                  </a:txBody>
                  <a:tcPr/>
                </a:tc>
                <a:tc>
                  <a:txBody>
                    <a:bodyPr/>
                    <a:lstStyle/>
                    <a:p>
                      <a:r>
                        <a:rPr lang="en-IN" sz="2000" b="1" dirty="0">
                          <a:latin typeface="Times New Roman" panose="02020603050405020304" pitchFamily="18" charset="0"/>
                          <a:cs typeface="Times New Roman" panose="02020603050405020304" pitchFamily="18" charset="0"/>
                        </a:rPr>
                        <a:t>Year</a:t>
                      </a:r>
                    </a:p>
                  </a:txBody>
                  <a:tcPr/>
                </a:tc>
                <a:tc>
                  <a:txBody>
                    <a:bodyPr/>
                    <a:lstStyle/>
                    <a:p>
                      <a:r>
                        <a:rPr lang="en-IN" sz="2000" b="1" dirty="0">
                          <a:latin typeface="Times New Roman" panose="02020603050405020304" pitchFamily="18" charset="0"/>
                          <a:cs typeface="Times New Roman" panose="02020603050405020304" pitchFamily="18" charset="0"/>
                        </a:rPr>
                        <a:t>Dataset</a:t>
                      </a:r>
                    </a:p>
                  </a:txBody>
                  <a:tcPr/>
                </a:tc>
                <a:tc>
                  <a:txBody>
                    <a:bodyPr/>
                    <a:lstStyle/>
                    <a:p>
                      <a:r>
                        <a:rPr lang="en-IN" sz="2000" b="1" dirty="0">
                          <a:latin typeface="Times New Roman" panose="02020603050405020304" pitchFamily="18" charset="0"/>
                          <a:cs typeface="Times New Roman" panose="02020603050405020304" pitchFamily="18" charset="0"/>
                        </a:rPr>
                        <a:t>Algorithm/Model</a:t>
                      </a:r>
                    </a:p>
                  </a:txBody>
                  <a:tcPr/>
                </a:tc>
                <a:tc>
                  <a:txBody>
                    <a:bodyPr/>
                    <a:lstStyle/>
                    <a:p>
                      <a:r>
                        <a:rPr lang="en-IN" sz="2000" b="1" dirty="0">
                          <a:latin typeface="Times New Roman" panose="02020603050405020304" pitchFamily="18" charset="0"/>
                          <a:cs typeface="Times New Roman" panose="02020603050405020304" pitchFamily="18" charset="0"/>
                        </a:rPr>
                        <a:t>Evaluation</a:t>
                      </a:r>
                    </a:p>
                  </a:txBody>
                  <a:tcPr/>
                </a:tc>
                <a:tc>
                  <a:txBody>
                    <a:bodyPr/>
                    <a:lstStyle/>
                    <a:p>
                      <a:r>
                        <a:rPr lang="en-IN" sz="2000" b="1" dirty="0">
                          <a:latin typeface="Times New Roman" panose="02020603050405020304" pitchFamily="18" charset="0"/>
                          <a:cs typeface="Times New Roman" panose="02020603050405020304" pitchFamily="18" charset="0"/>
                        </a:rPr>
                        <a:t>Major Finding</a:t>
                      </a:r>
                    </a:p>
                  </a:txBody>
                  <a:tcPr/>
                </a:tc>
                <a:extLst>
                  <a:ext uri="{0D108BD9-81ED-4DB2-BD59-A6C34878D82A}">
                    <a16:rowId xmlns:a16="http://schemas.microsoft.com/office/drawing/2014/main" val="11408433"/>
                  </a:ext>
                </a:extLst>
              </a:tr>
              <a:tr h="370840">
                <a:tc>
                  <a:txBody>
                    <a:bodyPr/>
                    <a:lstStyle/>
                    <a:p>
                      <a:r>
                        <a:rPr lang="en-IN" sz="2000" dirty="0">
                          <a:latin typeface="Times New Roman" panose="02020603050405020304" pitchFamily="18" charset="0"/>
                          <a:cs typeface="Times New Roman" panose="02020603050405020304" pitchFamily="18" charset="0"/>
                        </a:rPr>
                        <a:t>[9]</a:t>
                      </a:r>
                    </a:p>
                  </a:txBody>
                  <a:tcPr/>
                </a:tc>
                <a:tc>
                  <a:txBody>
                    <a:bodyPr/>
                    <a:lstStyle/>
                    <a:p>
                      <a:r>
                        <a:rPr lang="en-IN" sz="2000" dirty="0">
                          <a:latin typeface="Times New Roman" panose="02020603050405020304" pitchFamily="18" charset="0"/>
                          <a:cs typeface="Times New Roman" panose="02020603050405020304" pitchFamily="18" charset="0"/>
                        </a:rPr>
                        <a:t>2021</a:t>
                      </a:r>
                    </a:p>
                  </a:txBody>
                  <a:tcPr/>
                </a:tc>
                <a:tc>
                  <a:txBody>
                    <a:bodyPr/>
                    <a:lstStyle/>
                    <a:p>
                      <a:r>
                        <a:rPr lang="en-IN" sz="2000" dirty="0">
                          <a:latin typeface="Times New Roman" panose="02020603050405020304" pitchFamily="18" charset="0"/>
                          <a:cs typeface="Times New Roman" panose="02020603050405020304" pitchFamily="18" charset="0"/>
                        </a:rPr>
                        <a:t>Multivariate air-quality time-series data</a:t>
                      </a:r>
                    </a:p>
                  </a:txBody>
                  <a:tcPr/>
                </a:tc>
                <a:tc>
                  <a:txBody>
                    <a:bodyPr/>
                    <a:lstStyle/>
                    <a:p>
                      <a:r>
                        <a:rPr lang="en-IN" sz="2000" dirty="0">
                          <a:latin typeface="Times New Roman" panose="02020603050405020304" pitchFamily="18" charset="0"/>
                          <a:cs typeface="Times New Roman" panose="02020603050405020304" pitchFamily="18" charset="0"/>
                        </a:rPr>
                        <a:t> Hybrid Deep Learning / CNN-</a:t>
                      </a:r>
                      <a:r>
                        <a:rPr lang="en-IN" sz="2000" dirty="0" err="1">
                          <a:latin typeface="Times New Roman" panose="02020603050405020304" pitchFamily="18" charset="0"/>
                          <a:cs typeface="Times New Roman" panose="02020603050405020304" pitchFamily="18" charset="0"/>
                        </a:rPr>
                        <a:t>BiLSTM</a:t>
                      </a:r>
                      <a:endParaRPr lang="en-IN" sz="2000" b="1"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MAE, RMSE and forecasting performance</a:t>
                      </a:r>
                    </a:p>
                  </a:txBody>
                  <a:tcPr/>
                </a:tc>
                <a:tc>
                  <a:txBody>
                    <a:bodyPr/>
                    <a:lstStyle/>
                    <a:p>
                      <a:r>
                        <a:rPr lang="en-IN" sz="2000" dirty="0">
                          <a:latin typeface="Times New Roman" panose="02020603050405020304" pitchFamily="18" charset="0"/>
                          <a:cs typeface="Times New Roman" panose="02020603050405020304" pitchFamily="18" charset="0"/>
                        </a:rPr>
                        <a:t>Demonstrates that hybrid deep learning can model spatial-temporal dependencies for air-quality forecasting</a:t>
                      </a:r>
                    </a:p>
                  </a:txBody>
                  <a:tcPr/>
                </a:tc>
                <a:extLst>
                  <a:ext uri="{0D108BD9-81ED-4DB2-BD59-A6C34878D82A}">
                    <a16:rowId xmlns:a16="http://schemas.microsoft.com/office/drawing/2014/main" val="2999401089"/>
                  </a:ext>
                </a:extLst>
              </a:tr>
              <a:tr h="370840">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latin typeface="Times New Roman" panose="02020603050405020304" pitchFamily="18" charset="0"/>
                          <a:cs typeface="Times New Roman" panose="02020603050405020304" pitchFamily="18" charset="0"/>
                        </a:rPr>
                        <a:t>2025</a:t>
                      </a:r>
                    </a:p>
                  </a:txBody>
                  <a:tcPr/>
                </a:tc>
                <a:tc>
                  <a:txBody>
                    <a:bodyPr/>
                    <a:lstStyle/>
                    <a:p>
                      <a:r>
                        <a:rPr lang="en-IN" sz="2000" dirty="0">
                          <a:latin typeface="Times New Roman" panose="02020603050405020304" pitchFamily="18" charset="0"/>
                          <a:cs typeface="Times New Roman" panose="02020603050405020304" pitchFamily="18" charset="0"/>
                        </a:rPr>
                        <a:t>Six groundwater observation wells, </a:t>
                      </a:r>
                      <a:r>
                        <a:rPr lang="en-IN" sz="2000" dirty="0" err="1">
                          <a:latin typeface="Times New Roman" panose="02020603050405020304" pitchFamily="18" charset="0"/>
                          <a:cs typeface="Times New Roman" panose="02020603050405020304" pitchFamily="18" charset="0"/>
                        </a:rPr>
                        <a:t>Ruataniwha</a:t>
                      </a:r>
                      <a:r>
                        <a:rPr lang="en-IN" sz="2000" dirty="0">
                          <a:latin typeface="Times New Roman" panose="02020603050405020304" pitchFamily="18" charset="0"/>
                          <a:cs typeface="Times New Roman" panose="02020603050405020304" pitchFamily="18" charset="0"/>
                        </a:rPr>
                        <a:t> Basin</a:t>
                      </a:r>
                    </a:p>
                  </a:txBody>
                  <a:tcPr/>
                </a:tc>
                <a:tc>
                  <a:txBody>
                    <a:bodyPr/>
                    <a:lstStyle/>
                    <a:p>
                      <a:r>
                        <a:rPr lang="en-IN" sz="2000" dirty="0">
                          <a:latin typeface="Times New Roman" panose="02020603050405020304" pitchFamily="18" charset="0"/>
                          <a:cs typeface="Times New Roman" panose="02020603050405020304" pitchFamily="18" charset="0"/>
                        </a:rPr>
                        <a:t>Random Forest + SVM + seasonal decomposition</a:t>
                      </a:r>
                    </a:p>
                  </a:txBody>
                  <a:tcPr/>
                </a:tc>
                <a:tc>
                  <a:txBody>
                    <a:bodyPr/>
                    <a:lstStyle/>
                    <a:p>
                      <a:r>
                        <a:rPr lang="en-IN" sz="2000" dirty="0">
                          <a:latin typeface="Times New Roman" panose="02020603050405020304" pitchFamily="18" charset="0"/>
                          <a:cs typeface="Times New Roman" panose="02020603050405020304" pitchFamily="18" charset="0"/>
                        </a:rPr>
                        <a:t>MAE, RMSE, R², MAPE, PBIAS</a:t>
                      </a:r>
                    </a:p>
                  </a:txBody>
                  <a:tcPr/>
                </a:tc>
                <a:tc>
                  <a:txBody>
                    <a:bodyPr/>
                    <a:lstStyle/>
                    <a:p>
                      <a:r>
                        <a:rPr lang="en-IN" sz="2000" dirty="0">
                          <a:latin typeface="Times New Roman" panose="02020603050405020304" pitchFamily="18" charset="0"/>
                          <a:cs typeface="Times New Roman" panose="02020603050405020304" pitchFamily="18" charset="0"/>
                        </a:rPr>
                        <a:t>RF achieved strong independent-test performance supporting ML-based groundwater-level prediction</a:t>
                      </a:r>
                    </a:p>
                  </a:txBody>
                  <a:tcPr/>
                </a:tc>
                <a:extLst>
                  <a:ext uri="{0D108BD9-81ED-4DB2-BD59-A6C34878D82A}">
                    <a16:rowId xmlns:a16="http://schemas.microsoft.com/office/drawing/2014/main" val="1642120882"/>
                  </a:ext>
                </a:extLst>
              </a:tr>
              <a:tr h="370840">
                <a:tc>
                  <a:txBody>
                    <a:bodyPr/>
                    <a:lstStyle/>
                    <a:p>
                      <a:r>
                        <a:rPr lang="en-IN" sz="2000" dirty="0">
                          <a:latin typeface="Times New Roman" panose="02020603050405020304" pitchFamily="18" charset="0"/>
                          <a:cs typeface="Times New Roman" panose="02020603050405020304" pitchFamily="18" charset="0"/>
                        </a:rPr>
                        <a:t>[14]</a:t>
                      </a:r>
                    </a:p>
                  </a:txBody>
                  <a:tcPr/>
                </a:tc>
                <a:tc>
                  <a:txBody>
                    <a:bodyPr/>
                    <a:lstStyle/>
                    <a:p>
                      <a:r>
                        <a:rPr lang="en-IN" sz="2000" dirty="0">
                          <a:latin typeface="Times New Roman" panose="02020603050405020304" pitchFamily="18" charset="0"/>
                          <a:cs typeface="Times New Roman" panose="02020603050405020304" pitchFamily="18" charset="0"/>
                        </a:rPr>
                        <a:t>2022 </a:t>
                      </a:r>
                    </a:p>
                  </a:txBody>
                  <a:tcPr/>
                </a:tc>
                <a:tc>
                  <a:txBody>
                    <a:bodyPr/>
                    <a:lstStyle/>
                    <a:p>
                      <a:r>
                        <a:rPr lang="en-IN" sz="2000" dirty="0">
                          <a:latin typeface="Times New Roman" panose="02020603050405020304" pitchFamily="18" charset="0"/>
                          <a:cs typeface="Times New Roman" panose="02020603050405020304" pitchFamily="18" charset="0"/>
                        </a:rPr>
                        <a:t>Crowdsourced road reports + IDD/RDD</a:t>
                      </a:r>
                    </a:p>
                  </a:txBody>
                  <a:tcPr/>
                </a:tc>
                <a:tc>
                  <a:txBody>
                    <a:bodyPr/>
                    <a:lstStyle/>
                    <a:p>
                      <a:r>
                        <a:rPr lang="en-IN" sz="2000" dirty="0">
                          <a:latin typeface="Times New Roman" panose="02020603050405020304" pitchFamily="18" charset="0"/>
                          <a:cs typeface="Times New Roman" panose="02020603050405020304" pitchFamily="18" charset="0"/>
                        </a:rPr>
                        <a:t>U-Net, YOLOv5, </a:t>
                      </a:r>
                      <a:r>
                        <a:rPr lang="en-IN" sz="2000" dirty="0" err="1">
                          <a:latin typeface="Times New Roman" panose="02020603050405020304" pitchFamily="18" charset="0"/>
                          <a:cs typeface="Times New Roman" panose="02020603050405020304" pitchFamily="18" charset="0"/>
                        </a:rPr>
                        <a:t>EfficientDet</a:t>
                      </a:r>
                      <a:r>
                        <a:rPr lang="en-IN" sz="2000" dirty="0">
                          <a:latin typeface="Times New Roman" panose="02020603050405020304" pitchFamily="18" charset="0"/>
                          <a:cs typeface="Times New Roman" panose="02020603050405020304" pitchFamily="18" charset="0"/>
                        </a:rPr>
                        <a:t>, SIFT/FLANN</a:t>
                      </a:r>
                    </a:p>
                  </a:txBody>
                  <a:tcPr/>
                </a:tc>
                <a:tc>
                  <a:txBody>
                    <a:bodyPr/>
                    <a:lstStyle/>
                    <a:p>
                      <a:r>
                        <a:rPr lang="en-IN" sz="2000" dirty="0" err="1">
                          <a:latin typeface="Times New Roman" panose="02020603050405020304" pitchFamily="18" charset="0"/>
                          <a:cs typeface="Times New Roman" panose="02020603050405020304" pitchFamily="18" charset="0"/>
                        </a:rPr>
                        <a:t>IoU</a:t>
                      </a:r>
                      <a:r>
                        <a:rPr lang="en-IN" sz="2000" dirty="0">
                          <a:latin typeface="Times New Roman" panose="02020603050405020304" pitchFamily="18" charset="0"/>
                          <a:cs typeface="Times New Roman" panose="02020603050405020304" pitchFamily="18" charset="0"/>
                        </a:rPr>
                        <a:t>, AP, </a:t>
                      </a:r>
                      <a:r>
                        <a:rPr lang="en-IN" sz="2000" dirty="0" err="1">
                          <a:latin typeface="Times New Roman" panose="02020603050405020304" pitchFamily="18" charset="0"/>
                          <a:cs typeface="Times New Roman" panose="02020603050405020304" pitchFamily="18" charset="0"/>
                        </a:rPr>
                        <a:t>mAP</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prioritize infrastructure maintenance through CV and duplicate detection</a:t>
                      </a:r>
                    </a:p>
                  </a:txBody>
                  <a:tcPr/>
                </a:tc>
                <a:extLst>
                  <a:ext uri="{0D108BD9-81ED-4DB2-BD59-A6C34878D82A}">
                    <a16:rowId xmlns:a16="http://schemas.microsoft.com/office/drawing/2014/main" val="1571996018"/>
                  </a:ext>
                </a:extLst>
              </a:tr>
            </a:tbl>
          </a:graphicData>
        </a:graphic>
      </p:graphicFrame>
    </p:spTree>
    <p:extLst>
      <p:ext uri="{BB962C8B-B14F-4D97-AF65-F5344CB8AC3E}">
        <p14:creationId xmlns:p14="http://schemas.microsoft.com/office/powerpoint/2010/main" val="2723187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5A8C8C-73A0-4224-D231-FDB4C4A517DF}"/>
              </a:ext>
            </a:extLst>
          </p:cNvPr>
          <p:cNvSpPr>
            <a:spLocks noGrp="1"/>
          </p:cNvSpPr>
          <p:nvPr>
            <p:ph type="title"/>
          </p:nvPr>
        </p:nvSpPr>
        <p:spPr>
          <a:xfrm>
            <a:off x="84221" y="73579"/>
            <a:ext cx="10515600" cy="1480645"/>
          </a:xfrm>
        </p:spPr>
        <p:txBody>
          <a:bodyPr/>
          <a:lstStyle/>
          <a:p>
            <a:r>
              <a:rPr lang="en-IN" b="1" u="sng" dirty="0">
                <a:latin typeface="Times New Roman" panose="02020603050405020304" pitchFamily="18" charset="0"/>
                <a:cs typeface="Times New Roman" panose="02020603050405020304" pitchFamily="18" charset="0"/>
              </a:rPr>
              <a:t>Identified Research Gaps </a:t>
            </a:r>
          </a:p>
        </p:txBody>
      </p:sp>
      <p:sp>
        <p:nvSpPr>
          <p:cNvPr id="5" name="Content Placeholder 2">
            <a:extLst>
              <a:ext uri="{FF2B5EF4-FFF2-40B4-BE49-F238E27FC236}">
                <a16:creationId xmlns:a16="http://schemas.microsoft.com/office/drawing/2014/main" id="{0971C9BD-86B2-85C6-03F7-2B0852B0FABE}"/>
              </a:ext>
            </a:extLst>
          </p:cNvPr>
          <p:cNvSpPr>
            <a:spLocks noGrp="1"/>
          </p:cNvSpPr>
          <p:nvPr>
            <p:ph idx="1"/>
          </p:nvPr>
        </p:nvSpPr>
        <p:spPr>
          <a:xfrm>
            <a:off x="461210" y="1421561"/>
            <a:ext cx="10663989" cy="4722566"/>
          </a:xfrm>
        </p:spPr>
        <p:txBody>
          <a:bodyPr>
            <a:noAutofit/>
          </a:bodyPr>
          <a:lstStyle/>
          <a:p>
            <a:pPr algn="just"/>
            <a:r>
              <a:rPr lang="en-US" sz="2000" dirty="0">
                <a:latin typeface="Times New Roman" panose="02020603050405020304" pitchFamily="18" charset="0"/>
                <a:cs typeface="Times New Roman" panose="02020603050405020304" pitchFamily="18" charset="0"/>
              </a:rPr>
              <a:t>Lack of integrated civic issue management combining complaint reporting, infrastructure detection, prioritization, and resolution tracking.</a:t>
            </a:r>
          </a:p>
          <a:p>
            <a:pPr algn="just"/>
            <a:r>
              <a:rPr lang="en-US" sz="2000" dirty="0">
                <a:latin typeface="Times New Roman" panose="02020603050405020304" pitchFamily="18" charset="0"/>
                <a:cs typeface="Times New Roman" panose="02020603050405020304" pitchFamily="18" charset="0"/>
              </a:rPr>
              <a:t>Limited integration of multimodal AI for analyzing text, images, voice, location, and citizen interactions within civic complaints.</a:t>
            </a:r>
          </a:p>
          <a:p>
            <a:pPr algn="just"/>
            <a:r>
              <a:rPr lang="en-US" sz="2000" dirty="0">
                <a:latin typeface="Times New Roman" panose="02020603050405020304" pitchFamily="18" charset="0"/>
                <a:cs typeface="Times New Roman" panose="02020603050405020304" pitchFamily="18" charset="0"/>
              </a:rPr>
              <a:t>Limited context-aware prioritization incorporating citizen impact, environmental risk, recurrence, severity, and spatial characteristics.</a:t>
            </a:r>
          </a:p>
          <a:p>
            <a:pPr algn="just"/>
            <a:r>
              <a:rPr lang="en-US" sz="2000" dirty="0">
                <a:latin typeface="Times New Roman" panose="02020603050405020304" pitchFamily="18" charset="0"/>
                <a:cs typeface="Times New Roman" panose="02020603050405020304" pitchFamily="18" charset="0"/>
              </a:rPr>
              <a:t>Limited proactive prediction of seasonal civic problems using historical complaints and environmental factors for early intervention.</a:t>
            </a:r>
          </a:p>
          <a:p>
            <a:pPr algn="just"/>
            <a:r>
              <a:rPr lang="en-US" sz="2000" dirty="0">
                <a:latin typeface="Times New Roman" panose="02020603050405020304" pitchFamily="18" charset="0"/>
                <a:cs typeface="Times New Roman" panose="02020603050405020304" pitchFamily="18" charset="0"/>
              </a:rPr>
              <a:t>Fragmented air-pollution intelligence with limited integration of AQI/PM₂.₅ forecasting, complaint hotspots, and municipal action planning.</a:t>
            </a:r>
          </a:p>
          <a:p>
            <a:pPr algn="just"/>
            <a:r>
              <a:rPr lang="en-US" sz="2000" dirty="0">
                <a:latin typeface="Times New Roman" panose="02020603050405020304" pitchFamily="18" charset="0"/>
                <a:cs typeface="Times New Roman" panose="02020603050405020304" pitchFamily="18" charset="0"/>
              </a:rPr>
              <a:t>Limited area-level water-resource intelligence integrating groundwater, rainfall, land cover, vegetation, elevation, and GIS-based spatial analysis.</a:t>
            </a:r>
          </a:p>
          <a:p>
            <a:pPr algn="just"/>
            <a:r>
              <a:rPr lang="en-US" sz="2000" dirty="0">
                <a:latin typeface="Times New Roman" panose="02020603050405020304" pitchFamily="18" charset="0"/>
                <a:cs typeface="Times New Roman" panose="02020603050405020304" pitchFamily="18" charset="0"/>
              </a:rPr>
              <a:t>Limited explainable action recommendations that translate ML predictions into location-specific preventive measures and municipal action plans.</a:t>
            </a:r>
          </a:p>
        </p:txBody>
      </p:sp>
    </p:spTree>
    <p:extLst>
      <p:ext uri="{BB962C8B-B14F-4D97-AF65-F5344CB8AC3E}">
        <p14:creationId xmlns:p14="http://schemas.microsoft.com/office/powerpoint/2010/main" val="1886583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AF607-E77F-E930-EDBC-F849E9DDDF38}"/>
              </a:ext>
            </a:extLst>
          </p:cNvPr>
          <p:cNvSpPr>
            <a:spLocks noGrp="1"/>
          </p:cNvSpPr>
          <p:nvPr>
            <p:ph type="title"/>
          </p:nvPr>
        </p:nvSpPr>
        <p:spPr>
          <a:xfrm>
            <a:off x="121038" y="91371"/>
            <a:ext cx="10515600" cy="1480645"/>
          </a:xfrm>
        </p:spPr>
        <p:txBody>
          <a:bodyPr/>
          <a:lstStyle/>
          <a:p>
            <a:r>
              <a:rPr lang="en-US" b="1" u="sng" dirty="0">
                <a:latin typeface="Times New Roman" panose="02020603050405020304" pitchFamily="18" charset="0"/>
                <a:cs typeface="Times New Roman" panose="02020603050405020304" pitchFamily="18" charset="0"/>
              </a:rPr>
              <a:t>PROPOSED SOLUTION</a:t>
            </a:r>
            <a:br>
              <a:rPr lang="en-US" b="1" dirty="0">
                <a:latin typeface="Times New Roman" panose="02020603050405020304" pitchFamily="18" charset="0"/>
                <a:cs typeface="Times New Roman" panose="02020603050405020304" pitchFamily="18" charset="0"/>
              </a:rPr>
            </a:br>
            <a:endParaRPr lang="en-IN" b="1" dirty="0"/>
          </a:p>
        </p:txBody>
      </p:sp>
      <p:graphicFrame>
        <p:nvGraphicFramePr>
          <p:cNvPr id="4" name="Content Placeholder 3">
            <a:extLst>
              <a:ext uri="{FF2B5EF4-FFF2-40B4-BE49-F238E27FC236}">
                <a16:creationId xmlns:a16="http://schemas.microsoft.com/office/drawing/2014/main" id="{E50BF53A-4673-99FE-A035-22693406291C}"/>
              </a:ext>
            </a:extLst>
          </p:cNvPr>
          <p:cNvGraphicFramePr>
            <a:graphicFrameLocks noGrp="1"/>
          </p:cNvGraphicFramePr>
          <p:nvPr>
            <p:ph idx="1"/>
            <p:extLst>
              <p:ext uri="{D42A27DB-BD31-4B8C-83A1-F6EECF244321}">
                <p14:modId xmlns:p14="http://schemas.microsoft.com/office/powerpoint/2010/main" val="1611406736"/>
              </p:ext>
            </p:extLst>
          </p:nvPr>
        </p:nvGraphicFramePr>
        <p:xfrm>
          <a:off x="490009" y="1013126"/>
          <a:ext cx="10771548" cy="4978600"/>
        </p:xfrm>
        <a:graphic>
          <a:graphicData uri="http://schemas.openxmlformats.org/drawingml/2006/table">
            <a:tbl>
              <a:tblPr firstRow="1" bandRow="1">
                <a:tableStyleId>{5940675A-B579-460E-94D1-54222C63F5DA}</a:tableStyleId>
              </a:tblPr>
              <a:tblGrid>
                <a:gridCol w="3590516">
                  <a:extLst>
                    <a:ext uri="{9D8B030D-6E8A-4147-A177-3AD203B41FA5}">
                      <a16:colId xmlns:a16="http://schemas.microsoft.com/office/drawing/2014/main" val="388733606"/>
                    </a:ext>
                  </a:extLst>
                </a:gridCol>
                <a:gridCol w="3573550">
                  <a:extLst>
                    <a:ext uri="{9D8B030D-6E8A-4147-A177-3AD203B41FA5}">
                      <a16:colId xmlns:a16="http://schemas.microsoft.com/office/drawing/2014/main" val="236853547"/>
                    </a:ext>
                  </a:extLst>
                </a:gridCol>
                <a:gridCol w="3607482">
                  <a:extLst>
                    <a:ext uri="{9D8B030D-6E8A-4147-A177-3AD203B41FA5}">
                      <a16:colId xmlns:a16="http://schemas.microsoft.com/office/drawing/2014/main" val="3752187815"/>
                    </a:ext>
                  </a:extLst>
                </a:gridCol>
              </a:tblGrid>
              <a:tr h="1394008">
                <a:tc>
                  <a:txBody>
                    <a:bodyPr/>
                    <a:lstStyle/>
                    <a:p>
                      <a:pPr>
                        <a:buNone/>
                      </a:pPr>
                      <a:r>
                        <a:rPr lang="en-IN" sz="2300" b="1" dirty="0">
                          <a:latin typeface="Times New Roman" panose="02020603050405020304" pitchFamily="18" charset="0"/>
                          <a:cs typeface="Times New Roman" panose="02020603050405020304" pitchFamily="18" charset="0"/>
                        </a:rPr>
                        <a:t>Feature</a:t>
                      </a:r>
                      <a:endParaRPr lang="en-IN" sz="23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300" b="1" dirty="0">
                          <a:latin typeface="Times New Roman" panose="02020603050405020304" pitchFamily="18" charset="0"/>
                          <a:cs typeface="Times New Roman" panose="02020603050405020304" pitchFamily="18" charset="0"/>
                        </a:rPr>
                        <a:t>Existing Work</a:t>
                      </a:r>
                      <a:endParaRPr lang="en-IN" sz="23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3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2300" b="1" dirty="0">
                          <a:latin typeface="Times New Roman" panose="02020603050405020304" pitchFamily="18" charset="0"/>
                          <a:cs typeface="Times New Roman" panose="02020603050405020304" pitchFamily="18" charset="0"/>
                        </a:rPr>
                        <a:t>Proposed System </a:t>
                      </a:r>
                    </a:p>
                    <a:p>
                      <a:pPr>
                        <a:buNone/>
                      </a:pP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79759781"/>
                  </a:ext>
                </a:extLst>
              </a:tr>
              <a:tr h="1194864">
                <a:tc>
                  <a:txBody>
                    <a:bodyPr/>
                    <a:lstStyle/>
                    <a:p>
                      <a:pPr>
                        <a:buNone/>
                      </a:pPr>
                      <a:r>
                        <a:rPr lang="en-IN" b="0" dirty="0">
                          <a:latin typeface="Times New Roman" panose="02020603050405020304" pitchFamily="18" charset="0"/>
                          <a:cs typeface="Times New Roman" panose="02020603050405020304" pitchFamily="18" charset="0"/>
                        </a:rPr>
                        <a:t>Issue Reporting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Primarily provides complaint registration through web/mobile portals or civic platforms.</a:t>
                      </a:r>
                    </a:p>
                  </a:txBody>
                  <a:tcPr anchor="ctr"/>
                </a:tc>
                <a:tc>
                  <a:txBody>
                    <a:bodyPr/>
                    <a:lstStyle/>
                    <a:p>
                      <a:pPr>
                        <a:buNone/>
                      </a:pPr>
                      <a:r>
                        <a:rPr lang="en-IN" dirty="0">
                          <a:latin typeface="Times New Roman" panose="02020603050405020304" pitchFamily="18" charset="0"/>
                          <a:cs typeface="Times New Roman" panose="02020603050405020304" pitchFamily="18" charset="0"/>
                        </a:rPr>
                        <a:t>Accepts text, images, voice, and location through web application and WhatsApp chatbot.</a:t>
                      </a:r>
                    </a:p>
                  </a:txBody>
                  <a:tcPr anchor="ctr"/>
                </a:tc>
                <a:extLst>
                  <a:ext uri="{0D108BD9-81ED-4DB2-BD59-A6C34878D82A}">
                    <a16:rowId xmlns:a16="http://schemas.microsoft.com/office/drawing/2014/main" val="1177184313"/>
                  </a:ext>
                </a:extLst>
              </a:tr>
              <a:tr h="1194864">
                <a:tc>
                  <a:txBody>
                    <a:bodyPr/>
                    <a:lstStyle/>
                    <a:p>
                      <a:pPr>
                        <a:buNone/>
                      </a:pPr>
                      <a:r>
                        <a:rPr lang="en-IN" b="0" dirty="0">
                          <a:latin typeface="Times New Roman" panose="02020603050405020304" pitchFamily="18" charset="0"/>
                          <a:cs typeface="Times New Roman" panose="02020603050405020304" pitchFamily="18" charset="0"/>
                        </a:rPr>
                        <a:t>Complaint Classification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Complaints are often categorized manually or using basic predefined categories.</a:t>
                      </a:r>
                    </a:p>
                  </a:txBody>
                  <a:tcPr anchor="ctr"/>
                </a:tc>
                <a:tc>
                  <a:txBody>
                    <a:bodyPr/>
                    <a:lstStyle/>
                    <a:p>
                      <a:pPr>
                        <a:buNone/>
                      </a:pPr>
                      <a:r>
                        <a:rPr lang="en-IN" dirty="0">
                          <a:latin typeface="Times New Roman" panose="02020603050405020304" pitchFamily="18" charset="0"/>
                          <a:cs typeface="Times New Roman" panose="02020603050405020304" pitchFamily="18" charset="0"/>
                        </a:rPr>
                        <a:t>Automatically identifies issue type and routes complaints to the appropriate department.</a:t>
                      </a:r>
                    </a:p>
                  </a:txBody>
                  <a:tcPr anchor="ctr"/>
                </a:tc>
                <a:extLst>
                  <a:ext uri="{0D108BD9-81ED-4DB2-BD59-A6C34878D82A}">
                    <a16:rowId xmlns:a16="http://schemas.microsoft.com/office/drawing/2014/main" val="2947491317"/>
                  </a:ext>
                </a:extLst>
              </a:tr>
              <a:tr h="1194864">
                <a:tc>
                  <a:txBody>
                    <a:bodyPr/>
                    <a:lstStyle/>
                    <a:p>
                      <a:pPr>
                        <a:buNone/>
                      </a:pPr>
                      <a:r>
                        <a:rPr lang="en-IN" b="0" dirty="0">
                          <a:latin typeface="Times New Roman" panose="02020603050405020304" pitchFamily="18" charset="0"/>
                          <a:cs typeface="Times New Roman" panose="02020603050405020304" pitchFamily="18" charset="0"/>
                        </a:rPr>
                        <a:t>Duplicate Detection</a:t>
                      </a:r>
                    </a:p>
                  </a:txBody>
                  <a:tcPr anchor="ctr"/>
                </a:tc>
                <a:tc>
                  <a:txBody>
                    <a:bodyPr/>
                    <a:lstStyle/>
                    <a:p>
                      <a:pPr>
                        <a:buNone/>
                      </a:pPr>
                      <a:r>
                        <a:rPr lang="en-IN">
                          <a:latin typeface="Times New Roman" panose="02020603050405020304" pitchFamily="18" charset="0"/>
                          <a:cs typeface="Times New Roman" panose="02020603050405020304" pitchFamily="18" charset="0"/>
                        </a:rPr>
                        <a:t>Duplicate complaints may be handled manually or through basic matching.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Compares text, images, and geographic proximity to identify potentially duplicate reports</a:t>
                      </a:r>
                    </a:p>
                  </a:txBody>
                  <a:tcPr anchor="ctr"/>
                </a:tc>
                <a:extLst>
                  <a:ext uri="{0D108BD9-81ED-4DB2-BD59-A6C34878D82A}">
                    <a16:rowId xmlns:a16="http://schemas.microsoft.com/office/drawing/2014/main" val="3824748391"/>
                  </a:ext>
                </a:extLst>
              </a:tr>
            </a:tbl>
          </a:graphicData>
        </a:graphic>
      </p:graphicFrame>
    </p:spTree>
    <p:extLst>
      <p:ext uri="{BB962C8B-B14F-4D97-AF65-F5344CB8AC3E}">
        <p14:creationId xmlns:p14="http://schemas.microsoft.com/office/powerpoint/2010/main" val="1016662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954F22C-72F0-179B-2207-759EABE674C0}"/>
              </a:ext>
            </a:extLst>
          </p:cNvPr>
          <p:cNvGraphicFramePr>
            <a:graphicFrameLocks noGrp="1"/>
          </p:cNvGraphicFramePr>
          <p:nvPr>
            <p:ph idx="1"/>
            <p:extLst>
              <p:ext uri="{D42A27DB-BD31-4B8C-83A1-F6EECF244321}">
                <p14:modId xmlns:p14="http://schemas.microsoft.com/office/powerpoint/2010/main" val="2411237078"/>
              </p:ext>
            </p:extLst>
          </p:nvPr>
        </p:nvGraphicFramePr>
        <p:xfrm>
          <a:off x="641685" y="657726"/>
          <a:ext cx="10916651" cy="5807239"/>
        </p:xfrm>
        <a:graphic>
          <a:graphicData uri="http://schemas.openxmlformats.org/drawingml/2006/table">
            <a:tbl>
              <a:tblPr firstRow="1" bandRow="1">
                <a:tableStyleId>{5940675A-B579-460E-94D1-54222C63F5DA}</a:tableStyleId>
              </a:tblPr>
              <a:tblGrid>
                <a:gridCol w="3641659">
                  <a:extLst>
                    <a:ext uri="{9D8B030D-6E8A-4147-A177-3AD203B41FA5}">
                      <a16:colId xmlns:a16="http://schemas.microsoft.com/office/drawing/2014/main" val="388733606"/>
                    </a:ext>
                  </a:extLst>
                </a:gridCol>
                <a:gridCol w="3620308">
                  <a:extLst>
                    <a:ext uri="{9D8B030D-6E8A-4147-A177-3AD203B41FA5}">
                      <a16:colId xmlns:a16="http://schemas.microsoft.com/office/drawing/2014/main" val="236853547"/>
                    </a:ext>
                  </a:extLst>
                </a:gridCol>
                <a:gridCol w="3654684">
                  <a:extLst>
                    <a:ext uri="{9D8B030D-6E8A-4147-A177-3AD203B41FA5}">
                      <a16:colId xmlns:a16="http://schemas.microsoft.com/office/drawing/2014/main" val="3752187815"/>
                    </a:ext>
                  </a:extLst>
                </a:gridCol>
              </a:tblGrid>
              <a:tr h="962723">
                <a:tc>
                  <a:txBody>
                    <a:bodyPr/>
                    <a:lstStyle/>
                    <a:p>
                      <a:r>
                        <a:rPr lang="en-IN" sz="2300" b="1">
                          <a:latin typeface="Times New Roman" panose="02020603050405020304" pitchFamily="18" charset="0"/>
                          <a:cs typeface="Times New Roman" panose="02020603050405020304" pitchFamily="18" charset="0"/>
                        </a:rPr>
                        <a:t>Feature</a:t>
                      </a:r>
                      <a:endParaRPr lang="en-IN" sz="2300" b="1" dirty="0">
                        <a:latin typeface="Times New Roman" panose="02020603050405020304" pitchFamily="18" charset="0"/>
                        <a:cs typeface="Times New Roman" panose="02020603050405020304" pitchFamily="18" charset="0"/>
                      </a:endParaRPr>
                    </a:p>
                  </a:txBody>
                  <a:tcPr/>
                </a:tc>
                <a:tc>
                  <a:txBody>
                    <a:bodyPr/>
                    <a:lstStyle/>
                    <a:p>
                      <a:r>
                        <a:rPr lang="en-IN" sz="2300" b="1">
                          <a:latin typeface="Times New Roman" panose="02020603050405020304" pitchFamily="18" charset="0"/>
                          <a:cs typeface="Times New Roman" panose="02020603050405020304" pitchFamily="18" charset="0"/>
                        </a:rPr>
                        <a:t>Existing Work</a:t>
                      </a:r>
                      <a:endParaRPr lang="en-IN" sz="2300" b="1" dirty="0">
                        <a:latin typeface="Times New Roman" panose="02020603050405020304" pitchFamily="18" charset="0"/>
                        <a:cs typeface="Times New Roman" panose="02020603050405020304" pitchFamily="18" charset="0"/>
                      </a:endParaRPr>
                    </a:p>
                  </a:txBody>
                  <a:tcPr/>
                </a:tc>
                <a:tc>
                  <a:txBody>
                    <a:bodyPr/>
                    <a:lstStyle/>
                    <a:p>
                      <a:r>
                        <a:rPr lang="en-IN" sz="2300" b="1">
                          <a:latin typeface="Times New Roman" panose="02020603050405020304" pitchFamily="18" charset="0"/>
                          <a:cs typeface="Times New Roman" panose="02020603050405020304" pitchFamily="18" charset="0"/>
                        </a:rPr>
                        <a:t>Proposed System </a:t>
                      </a:r>
                      <a:endParaRPr lang="en-IN" sz="23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9759781"/>
                  </a:ext>
                </a:extLst>
              </a:tr>
              <a:tr h="1211129">
                <a:tc>
                  <a:txBody>
                    <a:bodyPr/>
                    <a:lstStyle/>
                    <a:p>
                      <a:pPr>
                        <a:buNone/>
                      </a:pPr>
                      <a:r>
                        <a:rPr lang="en-IN" b="0" dirty="0">
                          <a:latin typeface="Times New Roman" panose="02020603050405020304" pitchFamily="18" charset="0"/>
                          <a:cs typeface="Times New Roman" panose="02020603050405020304" pitchFamily="18" charset="0"/>
                        </a:rPr>
                        <a:t>Issue Prioritization</a:t>
                      </a:r>
                    </a:p>
                  </a:txBody>
                  <a:tcPr anchor="ctr"/>
                </a:tc>
                <a:tc>
                  <a:txBody>
                    <a:bodyPr/>
                    <a:lstStyle/>
                    <a:p>
                      <a:pPr>
                        <a:buNone/>
                      </a:pPr>
                      <a:r>
                        <a:rPr lang="en-IN">
                          <a:latin typeface="Times New Roman" panose="02020603050405020304" pitchFamily="18" charset="0"/>
                          <a:cs typeface="Times New Roman" panose="02020603050405020304" pitchFamily="18" charset="0"/>
                        </a:rPr>
                        <a:t>Prioritization commonly relies on severity, reporting order, or manually assigned importance.</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Combines severity, citizen engagement, location, affected population, recurrence, and environmental risk.</a:t>
                      </a:r>
                    </a:p>
                  </a:txBody>
                  <a:tcPr anchor="ctr"/>
                </a:tc>
                <a:extLst>
                  <a:ext uri="{0D108BD9-81ED-4DB2-BD59-A6C34878D82A}">
                    <a16:rowId xmlns:a16="http://schemas.microsoft.com/office/drawing/2014/main" val="1177184313"/>
                  </a:ext>
                </a:extLst>
              </a:tr>
              <a:tr h="1211129">
                <a:tc>
                  <a:txBody>
                    <a:bodyPr/>
                    <a:lstStyle/>
                    <a:p>
                      <a:pPr>
                        <a:buNone/>
                      </a:pPr>
                      <a:r>
                        <a:rPr lang="en-IN" b="0" dirty="0">
                          <a:latin typeface="Times New Roman" panose="02020603050405020304" pitchFamily="18" charset="0"/>
                          <a:cs typeface="Times New Roman" panose="02020603050405020304" pitchFamily="18" charset="0"/>
                        </a:rPr>
                        <a:t>Seasonal Analysis</a:t>
                      </a:r>
                    </a:p>
                  </a:txBody>
                  <a:tcPr anchor="ctr"/>
                </a:tc>
                <a:tc>
                  <a:txBody>
                    <a:bodyPr/>
                    <a:lstStyle/>
                    <a:p>
                      <a:pPr>
                        <a:buNone/>
                      </a:pPr>
                      <a:r>
                        <a:rPr lang="en-IN">
                          <a:latin typeface="Times New Roman" panose="02020603050405020304" pitchFamily="18" charset="0"/>
                          <a:cs typeface="Times New Roman" panose="02020603050405020304" pitchFamily="18" charset="0"/>
                        </a:rPr>
                        <a:t>Historical complaints are generally used for reporting rather than proactive forecasting.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Identifies recurring patterns and predicts potential seasonal civic problems.</a:t>
                      </a:r>
                    </a:p>
                  </a:txBody>
                  <a:tcPr anchor="ctr"/>
                </a:tc>
                <a:extLst>
                  <a:ext uri="{0D108BD9-81ED-4DB2-BD59-A6C34878D82A}">
                    <a16:rowId xmlns:a16="http://schemas.microsoft.com/office/drawing/2014/main" val="2947491317"/>
                  </a:ext>
                </a:extLst>
              </a:tr>
              <a:tr h="1211129">
                <a:tc>
                  <a:txBody>
                    <a:bodyPr/>
                    <a:lstStyle/>
                    <a:p>
                      <a:pPr>
                        <a:buNone/>
                      </a:pPr>
                      <a:r>
                        <a:rPr lang="en-IN" b="0" dirty="0">
                          <a:latin typeface="Times New Roman" panose="02020603050405020304" pitchFamily="18" charset="0"/>
                          <a:cs typeface="Times New Roman" panose="02020603050405020304" pitchFamily="18" charset="0"/>
                        </a:rPr>
                        <a:t>Air Pollution Analysis</a:t>
                      </a:r>
                    </a:p>
                  </a:txBody>
                  <a:tcPr anchor="ctr"/>
                </a:tc>
                <a:tc>
                  <a:txBody>
                    <a:bodyPr/>
                    <a:lstStyle/>
                    <a:p>
                      <a:pPr>
                        <a:buNone/>
                      </a:pPr>
                      <a:r>
                        <a:rPr lang="en-IN" dirty="0">
                          <a:latin typeface="Times New Roman" panose="02020603050405020304" pitchFamily="18" charset="0"/>
                          <a:cs typeface="Times New Roman" panose="02020603050405020304" pitchFamily="18" charset="0"/>
                        </a:rPr>
                        <a:t>Air-quality studies mainly focus on AQI/PM₂.₅ monitoring and prediction independently.</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Combines AQI, weather, complaint data, and spatial hotspots to support pollution mitigation planning.</a:t>
                      </a:r>
                    </a:p>
                  </a:txBody>
                  <a:tcPr anchor="ctr"/>
                </a:tc>
                <a:extLst>
                  <a:ext uri="{0D108BD9-81ED-4DB2-BD59-A6C34878D82A}">
                    <a16:rowId xmlns:a16="http://schemas.microsoft.com/office/drawing/2014/main" val="2172955533"/>
                  </a:ext>
                </a:extLst>
              </a:tr>
              <a:tr h="1211129">
                <a:tc>
                  <a:txBody>
                    <a:bodyPr/>
                    <a:lstStyle/>
                    <a:p>
                      <a:pPr>
                        <a:buNone/>
                      </a:pPr>
                      <a:r>
                        <a:rPr lang="en-IN" b="0" dirty="0">
                          <a:latin typeface="Times New Roman" panose="02020603050405020304" pitchFamily="18" charset="0"/>
                          <a:cs typeface="Times New Roman" panose="02020603050405020304" pitchFamily="18" charset="0"/>
                        </a:rPr>
                        <a:t>Water Scarcity Analysis</a:t>
                      </a:r>
                    </a:p>
                  </a:txBody>
                  <a:tcPr anchor="ctr"/>
                </a:tc>
                <a:tc>
                  <a:txBody>
                    <a:bodyPr/>
                    <a:lstStyle/>
                    <a:p>
                      <a:pPr>
                        <a:buNone/>
                      </a:pPr>
                      <a:r>
                        <a:rPr lang="en-IN" dirty="0">
                          <a:latin typeface="Times New Roman" panose="02020603050405020304" pitchFamily="18" charset="0"/>
                          <a:cs typeface="Times New Roman" panose="02020603050405020304" pitchFamily="18" charset="0"/>
                        </a:rPr>
                        <a:t>Groundwater studies mainly focus on groundwater-level prediction using historical observations.</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Combines groundwater, rainfall, land cover, vegetation, elevation, and spatial information for area-level assessment.</a:t>
                      </a:r>
                    </a:p>
                  </a:txBody>
                  <a:tcPr anchor="ctr"/>
                </a:tc>
                <a:extLst>
                  <a:ext uri="{0D108BD9-81ED-4DB2-BD59-A6C34878D82A}">
                    <a16:rowId xmlns:a16="http://schemas.microsoft.com/office/drawing/2014/main" val="3824748391"/>
                  </a:ext>
                </a:extLst>
              </a:tr>
            </a:tbl>
          </a:graphicData>
        </a:graphic>
      </p:graphicFrame>
    </p:spTree>
    <p:extLst>
      <p:ext uri="{BB962C8B-B14F-4D97-AF65-F5344CB8AC3E}">
        <p14:creationId xmlns:p14="http://schemas.microsoft.com/office/powerpoint/2010/main" val="2053006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983D3-1990-4D11-4072-88C2168F7859}"/>
              </a:ext>
            </a:extLst>
          </p:cNvPr>
          <p:cNvSpPr>
            <a:spLocks noGrp="1"/>
          </p:cNvSpPr>
          <p:nvPr>
            <p:ph type="title"/>
          </p:nvPr>
        </p:nvSpPr>
        <p:spPr/>
        <p:txBody>
          <a:bodyPr/>
          <a:lstStyle/>
          <a:p>
            <a:r>
              <a:rPr lang="en-IN" b="1" u="sng" dirty="0">
                <a:latin typeface="Times New Roman" panose="02020603050405020304" pitchFamily="18" charset="0"/>
                <a:cs typeface="Times New Roman" panose="02020603050405020304" pitchFamily="18" charset="0"/>
              </a:rPr>
              <a:t>System Architecture</a:t>
            </a:r>
          </a:p>
        </p:txBody>
      </p:sp>
      <p:pic>
        <p:nvPicPr>
          <p:cNvPr id="5" name="Content Placeholder 4">
            <a:extLst>
              <a:ext uri="{FF2B5EF4-FFF2-40B4-BE49-F238E27FC236}">
                <a16:creationId xmlns:a16="http://schemas.microsoft.com/office/drawing/2014/main" id="{ADE89175-8866-660C-8193-22B44B08443D}"/>
              </a:ext>
            </a:extLst>
          </p:cNvPr>
          <p:cNvPicPr>
            <a:picLocks noGrp="1" noChangeAspect="1"/>
          </p:cNvPicPr>
          <p:nvPr>
            <p:ph idx="1"/>
          </p:nvPr>
        </p:nvPicPr>
        <p:blipFill>
          <a:blip r:embed="rId2"/>
          <a:stretch>
            <a:fillRect/>
          </a:stretch>
        </p:blipFill>
        <p:spPr>
          <a:xfrm>
            <a:off x="1275347" y="1323586"/>
            <a:ext cx="9432758" cy="5239573"/>
          </a:xfrm>
          <a:prstGeom prst="rect">
            <a:avLst/>
          </a:prstGeom>
        </p:spPr>
      </p:pic>
    </p:spTree>
    <p:extLst>
      <p:ext uri="{BB962C8B-B14F-4D97-AF65-F5344CB8AC3E}">
        <p14:creationId xmlns:p14="http://schemas.microsoft.com/office/powerpoint/2010/main" val="1159564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E2A82-CF08-C713-7759-269227A8AF3C}"/>
              </a:ext>
            </a:extLst>
          </p:cNvPr>
          <p:cNvSpPr>
            <a:spLocks noGrp="1"/>
          </p:cNvSpPr>
          <p:nvPr>
            <p:ph type="title"/>
          </p:nvPr>
        </p:nvSpPr>
        <p:spPr>
          <a:xfrm>
            <a:off x="148390" y="0"/>
            <a:ext cx="10515600" cy="1325563"/>
          </a:xfrm>
        </p:spPr>
        <p:txBody>
          <a:bodyPr/>
          <a:lstStyle/>
          <a:p>
            <a:r>
              <a:rPr lang="en-IN" b="1" u="sng" dirty="0">
                <a:latin typeface="Times New Roman" panose="02020603050405020304" pitchFamily="18" charset="0"/>
                <a:cs typeface="Times New Roman" panose="02020603050405020304" pitchFamily="18" charset="0"/>
              </a:rPr>
              <a:t>System Requirements</a:t>
            </a:r>
          </a:p>
        </p:txBody>
      </p:sp>
      <p:sp>
        <p:nvSpPr>
          <p:cNvPr id="3" name="Content Placeholder 2">
            <a:extLst>
              <a:ext uri="{FF2B5EF4-FFF2-40B4-BE49-F238E27FC236}">
                <a16:creationId xmlns:a16="http://schemas.microsoft.com/office/drawing/2014/main" id="{0F9242B5-01F7-DFAB-FADB-26982BB86038}"/>
              </a:ext>
            </a:extLst>
          </p:cNvPr>
          <p:cNvSpPr>
            <a:spLocks noGrp="1"/>
          </p:cNvSpPr>
          <p:nvPr>
            <p:ph idx="1"/>
          </p:nvPr>
        </p:nvSpPr>
        <p:spPr>
          <a:xfrm>
            <a:off x="605065" y="1133014"/>
            <a:ext cx="11438545" cy="5388101"/>
          </a:xfrm>
        </p:spPr>
        <p:txBody>
          <a:bodyPr>
            <a:normAutofit lnSpcReduction="10000"/>
          </a:bodyPr>
          <a:lstStyle/>
          <a:p>
            <a:pPr marL="0" indent="0">
              <a:buNone/>
            </a:pPr>
            <a:r>
              <a:rPr lang="en-IN" sz="2400" b="1" dirty="0">
                <a:latin typeface="Times New Roman" panose="02020603050405020304" pitchFamily="18" charset="0"/>
                <a:cs typeface="Times New Roman" panose="02020603050405020304" pitchFamily="18" charset="0"/>
              </a:rPr>
              <a:t>Hardware Requirements </a:t>
            </a:r>
          </a:p>
          <a:p>
            <a:r>
              <a:rPr lang="en-IN" sz="2000" dirty="0"/>
              <a:t>Processor: 64-bit multi-core processor</a:t>
            </a:r>
          </a:p>
          <a:p>
            <a:r>
              <a:rPr lang="en-IN" sz="2000" dirty="0"/>
              <a:t>RAM: 16 GB minimum</a:t>
            </a:r>
          </a:p>
          <a:p>
            <a:r>
              <a:rPr lang="en-IN" sz="2000" dirty="0"/>
              <a:t>Storage: 20 GB for datasets and model checkpoints </a:t>
            </a:r>
          </a:p>
          <a:p>
            <a:r>
              <a:rPr lang="en-IN" sz="2000" dirty="0"/>
              <a:t>Internet: Required for cloud storage/API access </a:t>
            </a:r>
          </a:p>
          <a:p>
            <a:endParaRPr lang="en-IN" sz="2000" dirty="0"/>
          </a:p>
          <a:p>
            <a:pPr marL="0" indent="0">
              <a:buNone/>
            </a:pPr>
            <a:r>
              <a:rPr lang="en-IN" sz="2000" b="1" dirty="0"/>
              <a:t>Software Requirements</a:t>
            </a:r>
            <a:endParaRPr lang="en-IN" sz="2000" dirty="0"/>
          </a:p>
          <a:p>
            <a:pPr lvl="0"/>
            <a:r>
              <a:rPr lang="en-IN" sz="2000" b="1" dirty="0"/>
              <a:t>Operating System:</a:t>
            </a:r>
            <a:r>
              <a:rPr lang="en-IN" sz="2000" dirty="0"/>
              <a:t> Windows / Linux  /MacOS</a:t>
            </a:r>
          </a:p>
          <a:p>
            <a:pPr lvl="0"/>
            <a:r>
              <a:rPr lang="en-IN" sz="2000" b="1" dirty="0"/>
              <a:t>Frontend:</a:t>
            </a:r>
            <a:r>
              <a:rPr lang="en-IN" sz="2000" dirty="0"/>
              <a:t> React.js </a:t>
            </a:r>
          </a:p>
          <a:p>
            <a:pPr lvl="0"/>
            <a:r>
              <a:rPr lang="en-IN" sz="2000" b="1" dirty="0"/>
              <a:t>Backend:</a:t>
            </a:r>
            <a:r>
              <a:rPr lang="en-IN" sz="2000" dirty="0"/>
              <a:t> Node.js, Express.js </a:t>
            </a:r>
          </a:p>
          <a:p>
            <a:pPr lvl="0"/>
            <a:r>
              <a:rPr lang="en-IN" sz="2000" b="1" dirty="0"/>
              <a:t>AI/ML:</a:t>
            </a:r>
            <a:r>
              <a:rPr lang="en-IN" sz="2000" dirty="0"/>
              <a:t> </a:t>
            </a:r>
            <a:r>
              <a:rPr lang="en-IN" sz="2000" dirty="0" err="1"/>
              <a:t>PyTorch</a:t>
            </a:r>
            <a:r>
              <a:rPr lang="en-IN" sz="2000" dirty="0"/>
              <a:t>, Scikit-learn, Hugging Face, OpenCV, Sentence-Transformers </a:t>
            </a:r>
          </a:p>
          <a:p>
            <a:pPr lvl="0"/>
            <a:r>
              <a:rPr lang="en-IN" sz="2000" b="1" dirty="0"/>
              <a:t>GIS:</a:t>
            </a:r>
            <a:r>
              <a:rPr lang="en-IN" sz="2000" dirty="0"/>
              <a:t> QGIS, </a:t>
            </a:r>
            <a:r>
              <a:rPr lang="en-IN" sz="2000" dirty="0" err="1"/>
              <a:t>GeoPandas</a:t>
            </a:r>
            <a:r>
              <a:rPr lang="en-IN" sz="2000" dirty="0"/>
              <a:t>, Folium, </a:t>
            </a:r>
            <a:r>
              <a:rPr lang="en-IN" sz="2000" dirty="0" err="1"/>
              <a:t>Rasterio</a:t>
            </a:r>
            <a:r>
              <a:rPr lang="en-IN" sz="2000" dirty="0"/>
              <a:t>, OpenStreetMap </a:t>
            </a:r>
          </a:p>
          <a:p>
            <a:pPr lvl="0"/>
            <a:r>
              <a:rPr lang="en-IN" sz="2000" b="1" dirty="0"/>
              <a:t>Database:</a:t>
            </a:r>
            <a:r>
              <a:rPr lang="en-IN" sz="2000" dirty="0"/>
              <a:t> MongoDB </a:t>
            </a:r>
          </a:p>
          <a:p>
            <a:pPr lvl="0"/>
            <a:r>
              <a:rPr lang="en-IN" sz="2000" b="1" dirty="0"/>
              <a:t>APIs &amp; Services:</a:t>
            </a:r>
            <a:r>
              <a:rPr lang="en-IN" sz="2000" dirty="0"/>
              <a:t> Twilio WhatsApp API, Map APIs, Environmental Data APIs </a:t>
            </a:r>
          </a:p>
        </p:txBody>
      </p:sp>
    </p:spTree>
    <p:extLst>
      <p:ext uri="{BB962C8B-B14F-4D97-AF65-F5344CB8AC3E}">
        <p14:creationId xmlns:p14="http://schemas.microsoft.com/office/powerpoint/2010/main" val="3242184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3A780-4B8D-CFCE-C4D1-0AA8109BD5A0}"/>
              </a:ext>
            </a:extLst>
          </p:cNvPr>
          <p:cNvSpPr>
            <a:spLocks noGrp="1"/>
          </p:cNvSpPr>
          <p:nvPr>
            <p:ph type="title"/>
          </p:nvPr>
        </p:nvSpPr>
        <p:spPr>
          <a:xfrm>
            <a:off x="180619" y="18255"/>
            <a:ext cx="10515600" cy="1325563"/>
          </a:xfrm>
        </p:spPr>
        <p:txBody>
          <a:bodyPr/>
          <a:lstStyle/>
          <a:p>
            <a:r>
              <a:rPr lang="en-IN" b="1" u="sng" dirty="0">
                <a:latin typeface="Times New Roman" panose="02020603050405020304" pitchFamily="18" charset="0"/>
                <a:cs typeface="Times New Roman" panose="02020603050405020304" pitchFamily="18" charset="0"/>
              </a:rPr>
              <a:t>Design Methodology</a:t>
            </a:r>
          </a:p>
        </p:txBody>
      </p:sp>
      <p:sp>
        <p:nvSpPr>
          <p:cNvPr id="7" name="TextBox 6">
            <a:extLst>
              <a:ext uri="{FF2B5EF4-FFF2-40B4-BE49-F238E27FC236}">
                <a16:creationId xmlns:a16="http://schemas.microsoft.com/office/drawing/2014/main" id="{25D016EC-1164-7F03-0B79-EE8A6D658ADE}"/>
              </a:ext>
            </a:extLst>
          </p:cNvPr>
          <p:cNvSpPr txBox="1"/>
          <p:nvPr/>
        </p:nvSpPr>
        <p:spPr>
          <a:xfrm>
            <a:off x="300935" y="1082208"/>
            <a:ext cx="6097384"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Data Flow Diagram Level-0</a:t>
            </a:r>
          </a:p>
        </p:txBody>
      </p:sp>
      <p:pic>
        <p:nvPicPr>
          <p:cNvPr id="14" name="Content Placeholder 13">
            <a:extLst>
              <a:ext uri="{FF2B5EF4-FFF2-40B4-BE49-F238E27FC236}">
                <a16:creationId xmlns:a16="http://schemas.microsoft.com/office/drawing/2014/main" id="{A50A67D8-2BE3-FBA4-E729-5F89B21021C7}"/>
              </a:ext>
            </a:extLst>
          </p:cNvPr>
          <p:cNvPicPr>
            <a:picLocks noGrp="1" noChangeAspect="1"/>
          </p:cNvPicPr>
          <p:nvPr>
            <p:ph idx="1"/>
          </p:nvPr>
        </p:nvPicPr>
        <p:blipFill>
          <a:blip r:embed="rId2"/>
          <a:stretch>
            <a:fillRect/>
          </a:stretch>
        </p:blipFill>
        <p:spPr>
          <a:xfrm>
            <a:off x="1187116" y="1605428"/>
            <a:ext cx="9410896" cy="4672847"/>
          </a:xfrm>
          <a:prstGeom prst="rect">
            <a:avLst/>
          </a:prstGeom>
        </p:spPr>
      </p:pic>
    </p:spTree>
    <p:extLst>
      <p:ext uri="{BB962C8B-B14F-4D97-AF65-F5344CB8AC3E}">
        <p14:creationId xmlns:p14="http://schemas.microsoft.com/office/powerpoint/2010/main" val="1119420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10C961D-B8F5-53E7-C2DB-9EF170BB9FFF}"/>
              </a:ext>
            </a:extLst>
          </p:cNvPr>
          <p:cNvSpPr txBox="1"/>
          <p:nvPr/>
        </p:nvSpPr>
        <p:spPr>
          <a:xfrm>
            <a:off x="345597" y="246944"/>
            <a:ext cx="6097384"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Data Flow Diagram Level-1</a:t>
            </a:r>
          </a:p>
        </p:txBody>
      </p:sp>
      <p:pic>
        <p:nvPicPr>
          <p:cNvPr id="15" name="Picture 14">
            <a:extLst>
              <a:ext uri="{FF2B5EF4-FFF2-40B4-BE49-F238E27FC236}">
                <a16:creationId xmlns:a16="http://schemas.microsoft.com/office/drawing/2014/main" id="{3E9363C7-1614-53FA-DE57-7BD31EA490EA}"/>
              </a:ext>
            </a:extLst>
          </p:cNvPr>
          <p:cNvPicPr>
            <a:picLocks noChangeAspect="1"/>
          </p:cNvPicPr>
          <p:nvPr/>
        </p:nvPicPr>
        <p:blipFill>
          <a:blip r:embed="rId2"/>
          <a:stretch>
            <a:fillRect/>
          </a:stretch>
        </p:blipFill>
        <p:spPr>
          <a:xfrm>
            <a:off x="738697" y="1005591"/>
            <a:ext cx="10226926" cy="5730737"/>
          </a:xfrm>
          <a:prstGeom prst="rect">
            <a:avLst/>
          </a:prstGeom>
        </p:spPr>
      </p:pic>
    </p:spTree>
    <p:extLst>
      <p:ext uri="{BB962C8B-B14F-4D97-AF65-F5344CB8AC3E}">
        <p14:creationId xmlns:p14="http://schemas.microsoft.com/office/powerpoint/2010/main" val="2750428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09B71-24BE-55D3-09E4-BAA171CC0250}"/>
              </a:ext>
            </a:extLst>
          </p:cNvPr>
          <p:cNvSpPr>
            <a:spLocks noGrp="1"/>
          </p:cNvSpPr>
          <p:nvPr>
            <p:ph type="title"/>
          </p:nvPr>
        </p:nvSpPr>
        <p:spPr>
          <a:xfrm>
            <a:off x="308811" y="116472"/>
            <a:ext cx="10515600" cy="1325563"/>
          </a:xfrm>
        </p:spPr>
        <p:txBody>
          <a:bodyPr/>
          <a:lstStyle/>
          <a:p>
            <a:r>
              <a:rPr lang="en-IN" b="1" u="sng" dirty="0">
                <a:latin typeface="Times New Roman" panose="02020603050405020304" pitchFamily="18" charset="0"/>
                <a:cs typeface="Times New Roman" panose="02020603050405020304" pitchFamily="18" charset="0"/>
              </a:rPr>
              <a:t>Process Logic</a:t>
            </a:r>
          </a:p>
        </p:txBody>
      </p:sp>
      <p:sp>
        <p:nvSpPr>
          <p:cNvPr id="3" name="Content Placeholder 2">
            <a:extLst>
              <a:ext uri="{FF2B5EF4-FFF2-40B4-BE49-F238E27FC236}">
                <a16:creationId xmlns:a16="http://schemas.microsoft.com/office/drawing/2014/main" id="{5ACE257F-9A49-E700-A5CB-72E30AF67A8D}"/>
              </a:ext>
            </a:extLst>
          </p:cNvPr>
          <p:cNvSpPr>
            <a:spLocks noGrp="1"/>
          </p:cNvSpPr>
          <p:nvPr>
            <p:ph idx="1"/>
          </p:nvPr>
        </p:nvSpPr>
        <p:spPr>
          <a:xfrm>
            <a:off x="645695" y="1504783"/>
            <a:ext cx="10515600" cy="4351338"/>
          </a:xfrm>
        </p:spPr>
        <p:txBody>
          <a:bodyPr>
            <a:normAutofit fontScale="92500" lnSpcReduction="10000"/>
          </a:bodyPr>
          <a:lstStyle/>
          <a:p>
            <a:pPr marL="457200" lvl="0" indent="-457200">
              <a:buFont typeface="+mj-lt"/>
              <a:buAutoNum type="arabicPeriod"/>
            </a:pPr>
            <a:r>
              <a:rPr lang="en-IN" sz="2400" dirty="0"/>
              <a:t>Receive citizen complaint through Web Application / WhatsApp. </a:t>
            </a:r>
          </a:p>
          <a:p>
            <a:pPr marL="457200" lvl="0" indent="-457200">
              <a:buFont typeface="+mj-lt"/>
              <a:buAutoNum type="arabicPeriod"/>
            </a:pPr>
            <a:r>
              <a:rPr lang="en-IN" sz="2400" dirty="0"/>
              <a:t>Validate and preprocess text, images, voice, and location. </a:t>
            </a:r>
          </a:p>
          <a:p>
            <a:pPr marL="457200" lvl="0" indent="-457200">
              <a:buFont typeface="+mj-lt"/>
              <a:buAutoNum type="arabicPeriod"/>
            </a:pPr>
            <a:r>
              <a:rPr lang="en-IN" sz="2400" dirty="0"/>
              <a:t>Classify and verify the civic issue using AI/ML. </a:t>
            </a:r>
          </a:p>
          <a:p>
            <a:pPr marL="457200" lvl="0" indent="-457200">
              <a:buFont typeface="+mj-lt"/>
              <a:buAutoNum type="arabicPeriod"/>
            </a:pPr>
            <a:r>
              <a:rPr lang="en-IN" sz="2400" dirty="0"/>
              <a:t>Detect duplicate complaints using multimodal and spatial similarity. </a:t>
            </a:r>
          </a:p>
          <a:p>
            <a:pPr marL="457200" lvl="0" indent="-457200">
              <a:buFont typeface="+mj-lt"/>
              <a:buAutoNum type="arabicPeriod"/>
            </a:pPr>
            <a:r>
              <a:rPr lang="en-IN" sz="2400" dirty="0"/>
              <a:t>Calculate priority score using severity, impact, engagement, recurrence, and environmental risk. </a:t>
            </a:r>
          </a:p>
          <a:p>
            <a:pPr marL="457200" lvl="0" indent="-457200">
              <a:buFont typeface="+mj-lt"/>
              <a:buAutoNum type="arabicPeriod"/>
            </a:pPr>
            <a:r>
              <a:rPr lang="en-IN" sz="2400" dirty="0"/>
              <a:t>Route complaint to the appropriate municipal department. </a:t>
            </a:r>
          </a:p>
          <a:p>
            <a:pPr marL="457200" lvl="0" indent="-457200">
              <a:buFont typeface="+mj-lt"/>
              <a:buAutoNum type="arabicPeriod"/>
            </a:pPr>
            <a:r>
              <a:rPr lang="en-IN" sz="2400" dirty="0"/>
              <a:t>Perform GIS-based spatial and temporal analysis to identify hotspots. </a:t>
            </a:r>
          </a:p>
          <a:p>
            <a:pPr marL="457200" lvl="0" indent="-457200">
              <a:buFont typeface="+mj-lt"/>
              <a:buAutoNum type="arabicPeriod"/>
            </a:pPr>
            <a:r>
              <a:rPr lang="en-IN" sz="2400" dirty="0"/>
              <a:t>Forecast seasonal issues, air-quality risks, and water-related risks. </a:t>
            </a:r>
          </a:p>
          <a:p>
            <a:pPr marL="457200" lvl="0" indent="-457200">
              <a:buFont typeface="+mj-lt"/>
              <a:buAutoNum type="arabicPeriod"/>
            </a:pPr>
            <a:r>
              <a:rPr lang="en-IN" sz="2400" dirty="0"/>
              <a:t>Generate explainable recommendations and preventive action plans. </a:t>
            </a:r>
          </a:p>
          <a:p>
            <a:pPr marL="457200" lvl="0" indent="-457200">
              <a:buFont typeface="+mj-lt"/>
              <a:buAutoNum type="arabicPeriod"/>
            </a:pPr>
            <a:r>
              <a:rPr lang="en-IN" sz="2400" dirty="0"/>
              <a:t>Track resolution, update citizens, and continuously improve urban intelligence.</a:t>
            </a:r>
          </a:p>
        </p:txBody>
      </p:sp>
    </p:spTree>
    <p:extLst>
      <p:ext uri="{BB962C8B-B14F-4D97-AF65-F5344CB8AC3E}">
        <p14:creationId xmlns:p14="http://schemas.microsoft.com/office/powerpoint/2010/main" val="3551231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9021F-7FAC-F516-DD85-024531EC03C3}"/>
              </a:ext>
            </a:extLst>
          </p:cNvPr>
          <p:cNvSpPr>
            <a:spLocks noGrp="1"/>
          </p:cNvSpPr>
          <p:nvPr>
            <p:ph type="title"/>
          </p:nvPr>
        </p:nvSpPr>
        <p:spPr>
          <a:xfrm>
            <a:off x="331671" y="417094"/>
            <a:ext cx="6675120" cy="625475"/>
          </a:xfrm>
        </p:spPr>
        <p:txBody>
          <a:bodyPr>
            <a:normAutofit fontScale="90000"/>
          </a:bodyPr>
          <a:lstStyle/>
          <a:p>
            <a:r>
              <a:rPr lang="en-IN" sz="2800" b="1" dirty="0">
                <a:latin typeface="Times New Roman" panose="02020603050405020304" pitchFamily="18" charset="0"/>
                <a:cs typeface="Times New Roman" panose="02020603050405020304" pitchFamily="18" charset="0"/>
              </a:rPr>
              <a:t>Activity Diagram</a:t>
            </a:r>
            <a:br>
              <a:rPr lang="en-IN" b="1" dirty="0">
                <a:latin typeface="Times New Roman" panose="02020603050405020304" pitchFamily="18" charset="0"/>
                <a:cs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8DAE816E-0B49-3891-AA3C-4A68BE5800D0}"/>
              </a:ext>
            </a:extLst>
          </p:cNvPr>
          <p:cNvPicPr>
            <a:picLocks noGrp="1" noChangeAspect="1"/>
          </p:cNvPicPr>
          <p:nvPr>
            <p:ph idx="1"/>
          </p:nvPr>
        </p:nvPicPr>
        <p:blipFill>
          <a:blip r:embed="rId2"/>
          <a:stretch>
            <a:fillRect/>
          </a:stretch>
        </p:blipFill>
        <p:spPr>
          <a:xfrm>
            <a:off x="3773303" y="417094"/>
            <a:ext cx="4645393" cy="6226862"/>
          </a:xfrm>
          <a:prstGeom prst="rect">
            <a:avLst/>
          </a:prstGeom>
        </p:spPr>
      </p:pic>
    </p:spTree>
    <p:extLst>
      <p:ext uri="{BB962C8B-B14F-4D97-AF65-F5344CB8AC3E}">
        <p14:creationId xmlns:p14="http://schemas.microsoft.com/office/powerpoint/2010/main" val="900129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9A7ABAA-CFEC-DE57-D5BB-BEDC0FC12267}"/>
              </a:ext>
            </a:extLst>
          </p:cNvPr>
          <p:cNvSpPr txBox="1"/>
          <p:nvPr/>
        </p:nvSpPr>
        <p:spPr>
          <a:xfrm>
            <a:off x="237534" y="83652"/>
            <a:ext cx="10658994" cy="769441"/>
          </a:xfrm>
          <a:prstGeom prst="rect">
            <a:avLst/>
          </a:prstGeom>
          <a:noFill/>
        </p:spPr>
        <p:txBody>
          <a:bodyPr wrap="square">
            <a:spAutoFit/>
          </a:bodyPr>
          <a:lstStyle/>
          <a:p>
            <a:r>
              <a:rPr lang="en-IN" sz="4400" b="1" u="sng" dirty="0">
                <a:latin typeface="Times New Roman" panose="02020603050405020304" pitchFamily="18" charset="0"/>
                <a:cs typeface="Times New Roman" panose="02020603050405020304" pitchFamily="18" charset="0"/>
              </a:rPr>
              <a:t>Database/Schema</a:t>
            </a:r>
          </a:p>
        </p:txBody>
      </p:sp>
      <p:pic>
        <p:nvPicPr>
          <p:cNvPr id="8" name="Picture 7">
            <a:extLst>
              <a:ext uri="{FF2B5EF4-FFF2-40B4-BE49-F238E27FC236}">
                <a16:creationId xmlns:a16="http://schemas.microsoft.com/office/drawing/2014/main" id="{DA76ECE6-9298-987B-9A96-E2A3EB8444A6}"/>
              </a:ext>
            </a:extLst>
          </p:cNvPr>
          <p:cNvPicPr>
            <a:picLocks noChangeAspect="1"/>
          </p:cNvPicPr>
          <p:nvPr/>
        </p:nvPicPr>
        <p:blipFill>
          <a:blip r:embed="rId2"/>
          <a:stretch>
            <a:fillRect/>
          </a:stretch>
        </p:blipFill>
        <p:spPr>
          <a:xfrm>
            <a:off x="1002632" y="1015288"/>
            <a:ext cx="10106526" cy="5602080"/>
          </a:xfrm>
          <a:prstGeom prst="rect">
            <a:avLst/>
          </a:prstGeom>
        </p:spPr>
      </p:pic>
    </p:spTree>
    <p:extLst>
      <p:ext uri="{BB962C8B-B14F-4D97-AF65-F5344CB8AC3E}">
        <p14:creationId xmlns:p14="http://schemas.microsoft.com/office/powerpoint/2010/main" val="1242382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7466D-759D-10F2-D750-0BBB85C616A6}"/>
              </a:ext>
            </a:extLst>
          </p:cNvPr>
          <p:cNvSpPr>
            <a:spLocks noGrp="1"/>
          </p:cNvSpPr>
          <p:nvPr>
            <p:ph type="title"/>
          </p:nvPr>
        </p:nvSpPr>
        <p:spPr>
          <a:xfrm>
            <a:off x="262871" y="153191"/>
            <a:ext cx="10515600" cy="1325563"/>
          </a:xfrm>
        </p:spPr>
        <p:txBody>
          <a:bodyPr/>
          <a:lstStyle/>
          <a:p>
            <a:r>
              <a:rPr lang="en-IN" b="1" u="sng" dirty="0">
                <a:latin typeface="Times New Roman" panose="02020603050405020304" pitchFamily="18" charset="0"/>
                <a:cs typeface="Times New Roman" panose="02020603050405020304" pitchFamily="18" charset="0"/>
              </a:rPr>
              <a:t>Implementation &amp; Status</a:t>
            </a:r>
          </a:p>
        </p:txBody>
      </p:sp>
      <p:sp>
        <p:nvSpPr>
          <p:cNvPr id="3" name="Content Placeholder 2">
            <a:extLst>
              <a:ext uri="{FF2B5EF4-FFF2-40B4-BE49-F238E27FC236}">
                <a16:creationId xmlns:a16="http://schemas.microsoft.com/office/drawing/2014/main" id="{C9DEAAB3-EB20-83E4-FF89-6EE47CA88076}"/>
              </a:ext>
            </a:extLst>
          </p:cNvPr>
          <p:cNvSpPr>
            <a:spLocks noGrp="1"/>
          </p:cNvSpPr>
          <p:nvPr>
            <p:ph idx="1"/>
          </p:nvPr>
        </p:nvSpPr>
        <p:spPr>
          <a:xfrm>
            <a:off x="495300" y="1249680"/>
            <a:ext cx="10858500" cy="4792347"/>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Current Status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Problem statement and project objectives finalized</a:t>
            </a:r>
          </a:p>
          <a:p>
            <a:pPr algn="just"/>
            <a:r>
              <a:rPr lang="en-US" sz="2000" dirty="0">
                <a:latin typeface="Times New Roman" panose="02020603050405020304" pitchFamily="18" charset="0"/>
                <a:cs typeface="Times New Roman" panose="02020603050405020304" pitchFamily="18" charset="0"/>
              </a:rPr>
              <a:t>Literature survey and research gap analysis completed</a:t>
            </a:r>
          </a:p>
          <a:p>
            <a:pPr algn="just"/>
            <a:r>
              <a:rPr lang="en-IN" sz="2000" dirty="0" err="1">
                <a:latin typeface="Times New Roman" panose="02020603050405020304" pitchFamily="18" charset="0"/>
                <a:cs typeface="Times New Roman" panose="02020603050405020304" pitchFamily="18" charset="0"/>
              </a:rPr>
              <a:t>FixMyCity</a:t>
            </a:r>
            <a:r>
              <a:rPr lang="en-IN" sz="2000" dirty="0">
                <a:latin typeface="Times New Roman" panose="02020603050405020304" pitchFamily="18" charset="0"/>
                <a:cs typeface="Times New Roman" panose="02020603050405020304" pitchFamily="18" charset="0"/>
              </a:rPr>
              <a:t> overall </a:t>
            </a:r>
            <a:r>
              <a:rPr lang="en-US" sz="2000" dirty="0">
                <a:latin typeface="Times New Roman" panose="02020603050405020304" pitchFamily="18" charset="0"/>
                <a:cs typeface="Times New Roman" panose="02020603050405020304" pitchFamily="18" charset="0"/>
              </a:rPr>
              <a:t> methodology finalized</a:t>
            </a:r>
          </a:p>
          <a:p>
            <a:pPr algn="just"/>
            <a:r>
              <a:rPr lang="en-US" sz="2000" dirty="0">
                <a:latin typeface="Times New Roman" panose="02020603050405020304" pitchFamily="18" charset="0"/>
                <a:cs typeface="Times New Roman" panose="02020603050405020304" pitchFamily="18" charset="0"/>
              </a:rPr>
              <a:t>System requirements and technology stack identified</a:t>
            </a:r>
          </a:p>
          <a:p>
            <a:pPr algn="just"/>
            <a:r>
              <a:rPr lang="en-US" sz="2000" dirty="0">
                <a:latin typeface="Times New Roman" panose="02020603050405020304" pitchFamily="18" charset="0"/>
                <a:cs typeface="Times New Roman" panose="02020603050405020304" pitchFamily="18" charset="0"/>
              </a:rPr>
              <a:t>System architecture and overall workflow designed</a:t>
            </a:r>
          </a:p>
          <a:p>
            <a:pPr algn="just"/>
            <a:r>
              <a:rPr lang="en-US" sz="2000" dirty="0">
                <a:latin typeface="Times New Roman" panose="02020603050405020304" pitchFamily="18" charset="0"/>
                <a:cs typeface="Times New Roman" panose="02020603050405020304" pitchFamily="18" charset="0"/>
              </a:rPr>
              <a:t>Level-0 and Level-1 DFDs prepared</a:t>
            </a:r>
          </a:p>
          <a:p>
            <a:pPr algn="just"/>
            <a:r>
              <a:rPr lang="en-US" sz="2000" dirty="0">
                <a:latin typeface="Times New Roman" panose="02020603050405020304" pitchFamily="18" charset="0"/>
                <a:cs typeface="Times New Roman" panose="02020603050405020304" pitchFamily="18" charset="0"/>
              </a:rPr>
              <a:t>Process flow and database structure designed</a:t>
            </a:r>
          </a:p>
          <a:p>
            <a:pPr algn="just"/>
            <a:r>
              <a:rPr lang="en-IN" sz="2000" dirty="0">
                <a:latin typeface="Times New Roman" panose="02020603050405020304" pitchFamily="18" charset="0"/>
                <a:cs typeface="Times New Roman" panose="02020603050405020304" pitchFamily="18" charset="0"/>
              </a:rPr>
              <a:t>CPCB Air Quality Data, </a:t>
            </a:r>
            <a:r>
              <a:rPr lang="en-IN" sz="2000" dirty="0" err="1">
                <a:latin typeface="Times New Roman" panose="02020603050405020304" pitchFamily="18" charset="0"/>
                <a:cs typeface="Times New Roman" panose="02020603050405020304" pitchFamily="18" charset="0"/>
              </a:rPr>
              <a:t>OpenAQ</a:t>
            </a:r>
            <a:r>
              <a:rPr lang="en-IN" sz="2000" dirty="0">
                <a:latin typeface="Times New Roman" panose="02020603050405020304" pitchFamily="18" charset="0"/>
                <a:cs typeface="Times New Roman" panose="02020603050405020304" pitchFamily="18" charset="0"/>
              </a:rPr>
              <a:t>, IMD Gridded Rainfall, India Flood Inventory (IFI), CGWB   Groundwater Data  </a:t>
            </a:r>
            <a:r>
              <a:rPr lang="en-US" sz="2000" dirty="0">
                <a:latin typeface="Times New Roman" panose="02020603050405020304" pitchFamily="18" charset="0"/>
                <a:cs typeface="Times New Roman" panose="02020603050405020304" pitchFamily="18" charset="0"/>
              </a:rPr>
              <a:t>datasets collected</a:t>
            </a:r>
          </a:p>
          <a:p>
            <a:pPr algn="just"/>
            <a:r>
              <a:rPr lang="en-US" sz="2000" dirty="0">
                <a:latin typeface="Times New Roman" panose="02020603050405020304" pitchFamily="18" charset="0"/>
                <a:cs typeface="Times New Roman" panose="02020603050405020304" pitchFamily="18" charset="0"/>
              </a:rPr>
              <a:t>Initial dataset organization and class identification completed</a:t>
            </a:r>
          </a:p>
          <a:p>
            <a:pPr algn="just"/>
            <a:r>
              <a:rPr lang="en-US" sz="2000" dirty="0">
                <a:latin typeface="Times New Roman" panose="02020603050405020304" pitchFamily="18" charset="0"/>
                <a:cs typeface="Times New Roman" panose="02020603050405020304" pitchFamily="18" charset="0"/>
              </a:rPr>
              <a:t>Implementation workflow and module sequence finalized</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325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D9862D-DFE1-479F-FFAC-13DF586690B6}"/>
              </a:ext>
            </a:extLst>
          </p:cNvPr>
          <p:cNvSpPr>
            <a:spLocks noGrp="1"/>
          </p:cNvSpPr>
          <p:nvPr>
            <p:ph idx="1"/>
          </p:nvPr>
        </p:nvSpPr>
        <p:spPr>
          <a:xfrm>
            <a:off x="502920" y="624840"/>
            <a:ext cx="11003280" cy="595122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To Be Implemented Next</a:t>
            </a:r>
            <a:endParaRPr lang="en-US" sz="2000" dirty="0">
              <a:latin typeface="Times New Roman" panose="02020603050405020304" pitchFamily="18" charset="0"/>
              <a:cs typeface="Times New Roman" panose="02020603050405020304" pitchFamily="18" charset="0"/>
            </a:endParaRPr>
          </a:p>
          <a:p>
            <a:r>
              <a:rPr lang="en-IN" sz="2000" dirty="0"/>
              <a:t> </a:t>
            </a:r>
            <a:r>
              <a:rPr lang="en-IN" sz="2000" dirty="0">
                <a:latin typeface="Times New Roman" panose="02020603050405020304" pitchFamily="18" charset="0"/>
                <a:cs typeface="Times New Roman" panose="02020603050405020304" pitchFamily="18" charset="0"/>
              </a:rPr>
              <a:t>Citizen complaint reporting module with text, image, voice and location</a:t>
            </a:r>
          </a:p>
          <a:p>
            <a:r>
              <a:rPr lang="en-IN" sz="2000" dirty="0">
                <a:latin typeface="Times New Roman" panose="02020603050405020304" pitchFamily="18" charset="0"/>
                <a:cs typeface="Times New Roman" panose="02020603050405020304" pitchFamily="18" charset="0"/>
              </a:rPr>
              <a:t> WhatsApp chatbot and multilingual complaint processing</a:t>
            </a:r>
          </a:p>
          <a:p>
            <a:r>
              <a:rPr lang="en-IN" sz="2000" dirty="0">
                <a:latin typeface="Times New Roman" panose="02020603050405020304" pitchFamily="18" charset="0"/>
                <a:cs typeface="Times New Roman" panose="02020603050405020304" pitchFamily="18" charset="0"/>
              </a:rPr>
              <a:t> NLP, OCR and Speech-to-Text based complaint analysis</a:t>
            </a:r>
          </a:p>
          <a:p>
            <a:r>
              <a:rPr lang="en-IN" sz="2000" dirty="0">
                <a:latin typeface="Times New Roman" panose="02020603050405020304" pitchFamily="18" charset="0"/>
                <a:cs typeface="Times New Roman" panose="02020603050405020304" pitchFamily="18" charset="0"/>
              </a:rPr>
              <a:t> Computer vision for civic infrastructure defect detection</a:t>
            </a:r>
          </a:p>
          <a:p>
            <a:r>
              <a:rPr lang="en-IN" sz="2000" dirty="0">
                <a:latin typeface="Times New Roman" panose="02020603050405020304" pitchFamily="18" charset="0"/>
                <a:cs typeface="Times New Roman" panose="02020603050405020304" pitchFamily="18" charset="0"/>
              </a:rPr>
              <a:t> Multimodal duplicate complaint detection using text, image and location</a:t>
            </a:r>
          </a:p>
          <a:p>
            <a:r>
              <a:rPr lang="en-IN" sz="2000" dirty="0">
                <a:latin typeface="Times New Roman" panose="02020603050405020304" pitchFamily="18" charset="0"/>
                <a:cs typeface="Times New Roman" panose="02020603050405020304" pitchFamily="18" charset="0"/>
              </a:rPr>
              <a:t> AI-based dynamic complaint prioritization and departmental routing</a:t>
            </a:r>
          </a:p>
          <a:p>
            <a:r>
              <a:rPr lang="en-IN" sz="2000" dirty="0">
                <a:latin typeface="Times New Roman" panose="02020603050405020304" pitchFamily="18" charset="0"/>
                <a:cs typeface="Times New Roman" panose="02020603050405020304" pitchFamily="18" charset="0"/>
              </a:rPr>
              <a:t> GIS-based complaint mapping and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hotspot analysis</a:t>
            </a:r>
          </a:p>
          <a:p>
            <a:r>
              <a:rPr lang="en-IN" sz="2000" dirty="0">
                <a:latin typeface="Times New Roman" panose="02020603050405020304" pitchFamily="18" charset="0"/>
                <a:cs typeface="Times New Roman" panose="02020603050405020304" pitchFamily="18" charset="0"/>
              </a:rPr>
              <a:t> Predictive analytics for seasonal civic issues and preventive maintenance</a:t>
            </a:r>
          </a:p>
          <a:p>
            <a:r>
              <a:rPr lang="en-IN" sz="2000" dirty="0">
                <a:latin typeface="Times New Roman" panose="02020603050405020304" pitchFamily="18" charset="0"/>
                <a:cs typeface="Times New Roman" panose="02020603050405020304" pitchFamily="18" charset="0"/>
              </a:rPr>
              <a:t> Air pollution analytics and AQI forecasting module</a:t>
            </a:r>
          </a:p>
          <a:p>
            <a:r>
              <a:rPr lang="en-IN" sz="2000" dirty="0">
                <a:latin typeface="Times New Roman" panose="02020603050405020304" pitchFamily="18" charset="0"/>
                <a:cs typeface="Times New Roman" panose="02020603050405020304" pitchFamily="18" charset="0"/>
              </a:rPr>
              <a:t> Groundwater prediction and water-resource management module</a:t>
            </a:r>
          </a:p>
          <a:p>
            <a:r>
              <a:rPr lang="en-IN" sz="2000" dirty="0">
                <a:latin typeface="Times New Roman" panose="02020603050405020304" pitchFamily="18" charset="0"/>
                <a:cs typeface="Times New Roman" panose="02020603050405020304" pitchFamily="18" charset="0"/>
              </a:rPr>
              <a:t> Explainable AI-based decision-support and recommendation engine</a:t>
            </a:r>
          </a:p>
          <a:p>
            <a:r>
              <a:rPr lang="en-IN" sz="2000" dirty="0">
                <a:latin typeface="Times New Roman" panose="02020603050405020304" pitchFamily="18" charset="0"/>
                <a:cs typeface="Times New Roman" panose="02020603050405020304" pitchFamily="18" charset="0"/>
              </a:rPr>
              <a:t> Authority and citizen dashboards with real-time complaint tracking</a:t>
            </a:r>
          </a:p>
        </p:txBody>
      </p:sp>
    </p:spTree>
    <p:extLst>
      <p:ext uri="{BB962C8B-B14F-4D97-AF65-F5344CB8AC3E}">
        <p14:creationId xmlns:p14="http://schemas.microsoft.com/office/powerpoint/2010/main" val="418086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045" y="-114215"/>
            <a:ext cx="10515600" cy="1325563"/>
          </a:xfrm>
        </p:spPr>
        <p:txBody>
          <a:bodyPr>
            <a:normAutofit/>
          </a:bodyPr>
          <a:lstStyle/>
          <a:p>
            <a:r>
              <a:rPr lang="en-US" b="1" u="sng"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347343" y="1211348"/>
            <a:ext cx="11497314" cy="5601003"/>
          </a:xfrm>
        </p:spPr>
        <p:txBody>
          <a:bodyPr>
            <a:noAutofit/>
          </a:bodyPr>
          <a:lstStyle/>
          <a:p>
            <a:pPr marL="0" indent="0" algn="just">
              <a:buNone/>
            </a:pPr>
            <a:r>
              <a:rPr lang="en-IN" sz="2000" b="1"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Farhatun</a:t>
            </a:r>
            <a:r>
              <a:rPr lang="en-IN" sz="2000" dirty="0">
                <a:latin typeface="Times New Roman" panose="02020603050405020304" pitchFamily="18" charset="0"/>
                <a:cs typeface="Times New Roman" panose="02020603050405020304" pitchFamily="18" charset="0"/>
              </a:rPr>
              <a:t> Shama, Abdul Aziz, Lamisa </a:t>
            </a:r>
            <a:r>
              <a:rPr lang="en-IN" sz="2000" dirty="0" err="1">
                <a:latin typeface="Times New Roman" panose="02020603050405020304" pitchFamily="18" charset="0"/>
                <a:cs typeface="Times New Roman" panose="02020603050405020304" pitchFamily="18" charset="0"/>
              </a:rPr>
              <a:t>Bintee</a:t>
            </a:r>
            <a:r>
              <a:rPr lang="en-IN" sz="2000" dirty="0">
                <a:latin typeface="Times New Roman" panose="02020603050405020304" pitchFamily="18" charset="0"/>
                <a:cs typeface="Times New Roman" panose="02020603050405020304" pitchFamily="18" charset="0"/>
              </a:rPr>
              <a:t> Mizan Deya, </a:t>
            </a:r>
            <a:r>
              <a:rPr lang="en-IN" sz="2000" dirty="0" err="1">
                <a:latin typeface="Times New Roman" panose="02020603050405020304" pitchFamily="18" charset="0"/>
                <a:cs typeface="Times New Roman" panose="02020603050405020304" pitchFamily="18" charset="0"/>
              </a:rPr>
              <a:t>CitySolution</a:t>
            </a:r>
            <a:r>
              <a:rPr lang="en-IN" sz="2000" dirty="0">
                <a:latin typeface="Times New Roman" panose="02020603050405020304" pitchFamily="18" charset="0"/>
                <a:cs typeface="Times New Roman" panose="02020603050405020304" pitchFamily="18" charset="0"/>
              </a:rPr>
              <a:t>: A complaining task distributive </a:t>
            </a:r>
            <a:r>
              <a:rPr lang="en-IN" sz="2000" dirty="0" err="1">
                <a:latin typeface="Times New Roman" panose="02020603050405020304" pitchFamily="18" charset="0"/>
                <a:cs typeface="Times New Roman" panose="02020603050405020304" pitchFamily="18" charset="0"/>
              </a:rPr>
              <a:t>mobileapplication</a:t>
            </a:r>
            <a:r>
              <a:rPr lang="en-IN" sz="2000" dirty="0">
                <a:latin typeface="Times New Roman" panose="02020603050405020304" pitchFamily="18" charset="0"/>
                <a:cs typeface="Times New Roman" panose="02020603050405020304" pitchFamily="18" charset="0"/>
              </a:rPr>
              <a:t> for smart city corporation using deep learning, </a:t>
            </a:r>
            <a:r>
              <a:rPr lang="en-IN" sz="2000" dirty="0" err="1">
                <a:latin typeface="Times New Roman" panose="02020603050405020304" pitchFamily="18" charset="0"/>
                <a:cs typeface="Times New Roman" panose="02020603050405020304" pitchFamily="18" charset="0"/>
              </a:rPr>
              <a:t>SoftwareX</a:t>
            </a:r>
            <a:r>
              <a:rPr lang="en-IN" sz="2000" dirty="0">
                <a:latin typeface="Times New Roman" panose="02020603050405020304" pitchFamily="18" charset="0"/>
                <a:cs typeface="Times New Roman" panose="02020603050405020304" pitchFamily="18" charset="0"/>
              </a:rPr>
              <a:t>, Volume 27,2024,101829,ISSN2352-7110, https://doi.org/10.1016/j.softx.2024.101829.https://www.sciencedirect.com/science/article/pii/S235271102400</a:t>
            </a:r>
          </a:p>
          <a:p>
            <a:pPr marL="0" indent="0" algn="just">
              <a:buNone/>
            </a:pPr>
            <a:r>
              <a:rPr lang="en-IN" sz="2000" b="1"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Kurian Binu, Vinay K, Midhun R, Athul V Pillai, Shereena Thampi, 2026, </a:t>
            </a:r>
            <a:r>
              <a:rPr lang="en-IN" sz="2000" dirty="0" err="1">
                <a:latin typeface="Times New Roman" panose="02020603050405020304" pitchFamily="18" charset="0"/>
                <a:cs typeface="Times New Roman" panose="02020603050405020304" pitchFamily="18" charset="0"/>
              </a:rPr>
              <a:t>Smartreporter</a:t>
            </a:r>
            <a:r>
              <a:rPr lang="en-IN" sz="2000" dirty="0">
                <a:latin typeface="Times New Roman" panose="02020603050405020304" pitchFamily="18" charset="0"/>
                <a:cs typeface="Times New Roman" panose="02020603050405020304" pitchFamily="18" charset="0"/>
              </a:rPr>
              <a:t> – A Crowdsourced Complaint Resolution System, INTERNATIONAL JOURNAL OF ENGINEERING RESEARCH &amp; TECHNOLOGY (IJERT) Volume 15, Issue 01 , January – 2026, 10.17577/IJERTV15IS010067</a:t>
            </a:r>
          </a:p>
          <a:p>
            <a:pPr marL="0" indent="0" algn="just">
              <a:buNone/>
            </a:pPr>
            <a:r>
              <a:rPr lang="en-IN" sz="2000" b="1" dirty="0">
                <a:latin typeface="Times New Roman" panose="02020603050405020304" pitchFamily="18" charset="0"/>
                <a:cs typeface="Times New Roman" panose="02020603050405020304" pitchFamily="18" charset="0"/>
              </a:rPr>
              <a:t>[3]</a:t>
            </a:r>
            <a:r>
              <a:rPr lang="en-IN" sz="2000" dirty="0">
                <a:latin typeface="Times New Roman" panose="02020603050405020304" pitchFamily="18" charset="0"/>
                <a:cs typeface="Times New Roman" panose="02020603050405020304" pitchFamily="18" charset="0"/>
              </a:rPr>
              <a:t> Arya, Deeksha, et al. "Global road damage detection: State-of-the-art solutions." </a:t>
            </a:r>
            <a:r>
              <a:rPr lang="en-IN" sz="2000" i="1" dirty="0">
                <a:latin typeface="Times New Roman" panose="02020603050405020304" pitchFamily="18" charset="0"/>
                <a:cs typeface="Times New Roman" panose="02020603050405020304" pitchFamily="18" charset="0"/>
              </a:rPr>
              <a:t>2020 IEEE international conference on big data (big data)</a:t>
            </a:r>
            <a:r>
              <a:rPr lang="en-IN" sz="2000" dirty="0">
                <a:latin typeface="Times New Roman" panose="02020603050405020304" pitchFamily="18" charset="0"/>
                <a:cs typeface="Times New Roman" panose="02020603050405020304" pitchFamily="18" charset="0"/>
              </a:rPr>
              <a:t>. IEEE, 2020.</a:t>
            </a:r>
          </a:p>
          <a:p>
            <a:pPr marL="0" indent="0" algn="just">
              <a:buNone/>
            </a:pPr>
            <a:r>
              <a:rPr lang="en-IN" sz="2000" b="1" dirty="0">
                <a:latin typeface="Times New Roman" panose="02020603050405020304" pitchFamily="18" charset="0"/>
                <a:cs typeface="Times New Roman" panose="02020603050405020304" pitchFamily="18" charset="0"/>
              </a:rPr>
              <a:t>[4]</a:t>
            </a:r>
            <a:r>
              <a:rPr lang="en-IN" sz="2000" dirty="0">
                <a:latin typeface="Times New Roman" panose="02020603050405020304" pitchFamily="18" charset="0"/>
                <a:cs typeface="Times New Roman" panose="02020603050405020304" pitchFamily="18" charset="0"/>
              </a:rPr>
              <a:t> Reimers, Nils, and Iryna </a:t>
            </a:r>
            <a:r>
              <a:rPr lang="en-IN" sz="2000" dirty="0" err="1">
                <a:latin typeface="Times New Roman" panose="02020603050405020304" pitchFamily="18" charset="0"/>
                <a:cs typeface="Times New Roman" panose="02020603050405020304" pitchFamily="18" charset="0"/>
              </a:rPr>
              <a:t>Gurevych</a:t>
            </a:r>
            <a:r>
              <a:rPr lang="en-IN" sz="2000" dirty="0">
                <a:latin typeface="Times New Roman" panose="02020603050405020304" pitchFamily="18" charset="0"/>
                <a:cs typeface="Times New Roman" panose="02020603050405020304" pitchFamily="18" charset="0"/>
              </a:rPr>
              <a:t>. "Sentence-</a:t>
            </a:r>
            <a:r>
              <a:rPr lang="en-IN" sz="2000" dirty="0" err="1">
                <a:latin typeface="Times New Roman" panose="02020603050405020304" pitchFamily="18" charset="0"/>
                <a:cs typeface="Times New Roman" panose="02020603050405020304" pitchFamily="18" charset="0"/>
              </a:rPr>
              <a:t>bert</a:t>
            </a:r>
            <a:r>
              <a:rPr lang="en-IN" sz="2000" dirty="0">
                <a:latin typeface="Times New Roman" panose="02020603050405020304" pitchFamily="18" charset="0"/>
                <a:cs typeface="Times New Roman" panose="02020603050405020304" pitchFamily="18" charset="0"/>
              </a:rPr>
              <a:t>: Sentence embeddings using </a:t>
            </a:r>
            <a:r>
              <a:rPr lang="en-IN" sz="2000" dirty="0" err="1">
                <a:latin typeface="Times New Roman" panose="02020603050405020304" pitchFamily="18" charset="0"/>
                <a:cs typeface="Times New Roman" panose="02020603050405020304" pitchFamily="18" charset="0"/>
              </a:rPr>
              <a:t>siamese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bert</a:t>
            </a:r>
            <a:r>
              <a:rPr lang="en-IN" sz="2000" dirty="0">
                <a:latin typeface="Times New Roman" panose="02020603050405020304" pitchFamily="18" charset="0"/>
                <a:cs typeface="Times New Roman" panose="02020603050405020304" pitchFamily="18" charset="0"/>
              </a:rPr>
              <a:t>-networks." </a:t>
            </a:r>
            <a:r>
              <a:rPr lang="en-IN" sz="2000" i="1" dirty="0">
                <a:latin typeface="Times New Roman" panose="02020603050405020304" pitchFamily="18" charset="0"/>
                <a:cs typeface="Times New Roman" panose="02020603050405020304" pitchFamily="18" charset="0"/>
              </a:rPr>
              <a:t>Proceedings of the 2019 conference on empirical methods in natural language processing and the 9th international joint conference on natural language processing (EMNLP-IJCNLP)</a:t>
            </a:r>
            <a:r>
              <a:rPr lang="en-IN" sz="2000" dirty="0">
                <a:latin typeface="Times New Roman" panose="02020603050405020304" pitchFamily="18" charset="0"/>
                <a:cs typeface="Times New Roman" panose="02020603050405020304" pitchFamily="18" charset="0"/>
              </a:rPr>
              <a:t>. 2019.</a:t>
            </a:r>
          </a:p>
          <a:p>
            <a:pPr marL="0" indent="0" algn="just">
              <a:buNone/>
            </a:pPr>
            <a:r>
              <a:rPr lang="en-IN" sz="2000" b="1" dirty="0">
                <a:latin typeface="Times New Roman" panose="02020603050405020304" pitchFamily="18" charset="0"/>
                <a:cs typeface="Times New Roman" panose="02020603050405020304" pitchFamily="18" charset="0"/>
              </a:rPr>
              <a:t>[5]</a:t>
            </a:r>
            <a:r>
              <a:rPr lang="en-IN" sz="2000" dirty="0" err="1">
                <a:latin typeface="Times New Roman" panose="02020603050405020304" pitchFamily="18" charset="0"/>
                <a:cs typeface="Times New Roman" panose="02020603050405020304" pitchFamily="18" charset="0"/>
              </a:rPr>
              <a:t>Radford,Alec,et</a:t>
            </a:r>
            <a:r>
              <a:rPr lang="en-IN" sz="2000" dirty="0">
                <a:latin typeface="Times New Roman" panose="02020603050405020304" pitchFamily="18" charset="0"/>
                <a:cs typeface="Times New Roman" panose="02020603050405020304" pitchFamily="18" charset="0"/>
              </a:rPr>
              <a:t> al. "Learning transferable visual models from natural language supervision." </a:t>
            </a:r>
            <a:r>
              <a:rPr lang="en-IN" sz="2000" i="1" dirty="0">
                <a:latin typeface="Times New Roman" panose="02020603050405020304" pitchFamily="18" charset="0"/>
                <a:cs typeface="Times New Roman" panose="02020603050405020304" pitchFamily="18" charset="0"/>
              </a:rPr>
              <a:t>International conference on machine learning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PmLR</a:t>
            </a:r>
            <a:r>
              <a:rPr lang="en-IN" sz="2000" dirty="0">
                <a:latin typeface="Times New Roman" panose="02020603050405020304" pitchFamily="18" charset="0"/>
                <a:cs typeface="Times New Roman" panose="02020603050405020304" pitchFamily="18" charset="0"/>
              </a:rPr>
              <a:t>, 2021.</a:t>
            </a:r>
          </a:p>
          <a:p>
            <a:pPr marL="0" indent="0">
              <a:buNone/>
            </a:pPr>
            <a:endParaRPr lang="en-IN"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4864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32B546-1C79-AA24-3EC2-DA19B35249DB}"/>
              </a:ext>
            </a:extLst>
          </p:cNvPr>
          <p:cNvSpPr>
            <a:spLocks noGrp="1"/>
          </p:cNvSpPr>
          <p:nvPr>
            <p:ph idx="1"/>
          </p:nvPr>
        </p:nvSpPr>
        <p:spPr>
          <a:xfrm>
            <a:off x="507854" y="529389"/>
            <a:ext cx="11176291" cy="6328611"/>
          </a:xfrm>
        </p:spPr>
        <p:txBody>
          <a:bodyPr>
            <a:noAutofit/>
          </a:bodyPr>
          <a:lstStyle/>
          <a:p>
            <a:pPr marL="0" indent="0">
              <a:buNone/>
            </a:pPr>
            <a:r>
              <a:rPr lang="en-IN" sz="2000" b="1" dirty="0">
                <a:latin typeface="Times New Roman" panose="02020603050405020304" pitchFamily="18" charset="0"/>
                <a:cs typeface="Times New Roman" panose="02020603050405020304" pitchFamily="18" charset="0"/>
              </a:rPr>
              <a:t>[6]</a:t>
            </a:r>
            <a:r>
              <a:rPr lang="en-IN" sz="2000" dirty="0">
                <a:latin typeface="Times New Roman" panose="02020603050405020304" pitchFamily="18" charset="0"/>
                <a:cs typeface="Times New Roman" panose="02020603050405020304" pitchFamily="18" charset="0"/>
              </a:rPr>
              <a:t>   Santana, Eduardo Felipe </a:t>
            </a:r>
            <a:r>
              <a:rPr lang="en-IN" sz="2000" dirty="0" err="1">
                <a:latin typeface="Times New Roman" panose="02020603050405020304" pitchFamily="18" charset="0"/>
                <a:cs typeface="Times New Roman" panose="02020603050405020304" pitchFamily="18" charset="0"/>
              </a:rPr>
              <a:t>Zambom</a:t>
            </a:r>
            <a:r>
              <a:rPr lang="en-IN" sz="2000" dirty="0">
                <a:latin typeface="Times New Roman" panose="02020603050405020304" pitchFamily="18" charset="0"/>
                <a:cs typeface="Times New Roman" panose="02020603050405020304" pitchFamily="18" charset="0"/>
              </a:rPr>
              <a:t>, et al. "Software platforms for smart cities: Concepts, requirements, challenges, and a unified reference architecture." </a:t>
            </a:r>
            <a:r>
              <a:rPr lang="en-IN" sz="2000" i="1" dirty="0" err="1">
                <a:latin typeface="Times New Roman" panose="02020603050405020304" pitchFamily="18" charset="0"/>
                <a:cs typeface="Times New Roman" panose="02020603050405020304" pitchFamily="18" charset="0"/>
              </a:rPr>
              <a:t>arXiv</a:t>
            </a:r>
            <a:r>
              <a:rPr lang="en-IN" sz="2000" i="1" dirty="0">
                <a:latin typeface="Times New Roman" panose="02020603050405020304" pitchFamily="18" charset="0"/>
                <a:cs typeface="Times New Roman" panose="02020603050405020304" pitchFamily="18" charset="0"/>
              </a:rPr>
              <a:t> preprint arXiv:1609.08089</a:t>
            </a:r>
            <a:r>
              <a:rPr lang="en-IN" sz="2000" dirty="0">
                <a:latin typeface="Times New Roman" panose="02020603050405020304" pitchFamily="18" charset="0"/>
                <a:cs typeface="Times New Roman" panose="02020603050405020304" pitchFamily="18" charset="0"/>
              </a:rPr>
              <a:t> (2016).</a:t>
            </a:r>
          </a:p>
          <a:p>
            <a:pPr marL="0" indent="0">
              <a:buNone/>
            </a:pPr>
            <a:r>
              <a:rPr lang="en-IN" sz="2000" b="1" dirty="0">
                <a:latin typeface="Times New Roman" panose="02020603050405020304" pitchFamily="18" charset="0"/>
                <a:cs typeface="Times New Roman" panose="02020603050405020304" pitchFamily="18" charset="0"/>
              </a:rPr>
              <a:t>[7] </a:t>
            </a:r>
            <a:r>
              <a:rPr lang="en-IN" sz="2000" dirty="0">
                <a:latin typeface="Times New Roman" panose="02020603050405020304" pitchFamily="18" charset="0"/>
                <a:cs typeface="Times New Roman" panose="02020603050405020304" pitchFamily="18" charset="0"/>
              </a:rPr>
              <a:t>  Li, W., Goodchild, M. F., &amp; Xu, B. (Eds.). (2021). </a:t>
            </a:r>
            <a:r>
              <a:rPr lang="en-IN" sz="2000" i="1" dirty="0" err="1">
                <a:latin typeface="Times New Roman" panose="02020603050405020304" pitchFamily="18" charset="0"/>
                <a:cs typeface="Times New Roman" panose="02020603050405020304" pitchFamily="18" charset="0"/>
              </a:rPr>
              <a:t>GeoAI</a:t>
            </a:r>
            <a:r>
              <a:rPr lang="en-IN" sz="2000" i="1" dirty="0">
                <a:latin typeface="Times New Roman" panose="02020603050405020304" pitchFamily="18" charset="0"/>
                <a:cs typeface="Times New Roman" panose="02020603050405020304" pitchFamily="18" charset="0"/>
              </a:rPr>
              <a:t>: Where machine learning and big data converge in </a:t>
            </a:r>
            <a:r>
              <a:rPr lang="en-IN" sz="2000" i="1" dirty="0" err="1">
                <a:latin typeface="Times New Roman" panose="02020603050405020304" pitchFamily="18" charset="0"/>
                <a:cs typeface="Times New Roman" panose="02020603050405020304" pitchFamily="18" charset="0"/>
              </a:rPr>
              <a:t>GIScience</a:t>
            </a:r>
            <a:r>
              <a:rPr lang="en-IN" sz="2000" dirty="0">
                <a:latin typeface="Times New Roman" panose="02020603050405020304" pitchFamily="18" charset="0"/>
                <a:cs typeface="Times New Roman" panose="02020603050405020304" pitchFamily="18" charset="0"/>
              </a:rPr>
              <a:t>. Springer. https://doi.org/10.1007/978-3-030-89879-5</a:t>
            </a:r>
          </a:p>
          <a:p>
            <a:pPr marL="0" indent="0">
              <a:buNone/>
            </a:pPr>
            <a:r>
              <a:rPr lang="en-IN" sz="2000" b="1" dirty="0">
                <a:latin typeface="Times New Roman" panose="02020603050405020304" pitchFamily="18" charset="0"/>
                <a:cs typeface="Times New Roman" panose="02020603050405020304" pitchFamily="18" charset="0"/>
              </a:rPr>
              <a:t>[8]   </a:t>
            </a:r>
            <a:r>
              <a:rPr lang="en-IN" sz="2000" dirty="0">
                <a:latin typeface="Times New Roman" panose="02020603050405020304" pitchFamily="18" charset="0"/>
                <a:cs typeface="Times New Roman" panose="02020603050405020304" pitchFamily="18" charset="0"/>
              </a:rPr>
              <a:t>AI-Based Smart Civic Complaint Management System. (2026). </a:t>
            </a:r>
            <a:r>
              <a:rPr lang="en-IN" sz="2000" i="1" dirty="0">
                <a:latin typeface="Times New Roman" panose="02020603050405020304" pitchFamily="18" charset="0"/>
                <a:cs typeface="Times New Roman" panose="02020603050405020304" pitchFamily="18" charset="0"/>
              </a:rPr>
              <a:t>International Journal of Engineering &amp; Extended Technologies Research (IJEETR)</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8</a:t>
            </a:r>
            <a:r>
              <a:rPr lang="en-IN" sz="2000" dirty="0">
                <a:latin typeface="Times New Roman" panose="02020603050405020304" pitchFamily="18" charset="0"/>
                <a:cs typeface="Times New Roman" panose="02020603050405020304" pitchFamily="18" charset="0"/>
              </a:rPr>
              <a:t>(2), 4269-4281. https://doi.org/10.15662/IJEETR.2026.0802433</a:t>
            </a:r>
          </a:p>
          <a:p>
            <a:pPr marL="0" indent="0">
              <a:buNone/>
            </a:pPr>
            <a:r>
              <a:rPr lang="en-IN" sz="2000" b="1" dirty="0">
                <a:latin typeface="Times New Roman" panose="02020603050405020304" pitchFamily="18" charset="0"/>
                <a:cs typeface="Times New Roman" panose="02020603050405020304" pitchFamily="18" charset="0"/>
              </a:rPr>
              <a:t>[9]</a:t>
            </a:r>
            <a:r>
              <a:rPr lang="en-IN" sz="2000" dirty="0">
                <a:latin typeface="Times New Roman" panose="02020603050405020304" pitchFamily="18" charset="0"/>
                <a:cs typeface="Times New Roman" panose="02020603050405020304" pitchFamily="18" charset="0"/>
              </a:rPr>
              <a:t>   S. Du, T. Li, Y. Yang and S. -J. Horng, "Deep Air Quality Forecasting Using Hybrid Deep Learning Framework," in </a:t>
            </a:r>
            <a:r>
              <a:rPr lang="en-IN" sz="2000" i="1" dirty="0">
                <a:latin typeface="Times New Roman" panose="02020603050405020304" pitchFamily="18" charset="0"/>
                <a:cs typeface="Times New Roman" panose="02020603050405020304" pitchFamily="18" charset="0"/>
              </a:rPr>
              <a:t>IEEE Transactions on Knowledge and Data Engineering</a:t>
            </a:r>
            <a:r>
              <a:rPr lang="en-IN" sz="2000" dirty="0">
                <a:latin typeface="Times New Roman" panose="02020603050405020304" pitchFamily="18" charset="0"/>
                <a:cs typeface="Times New Roman" panose="02020603050405020304" pitchFamily="18" charset="0"/>
              </a:rPr>
              <a:t>, vol. 33, no. 6, pp. 2412-2424, 1 June 2021,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10.1109/TKDE.2019.2954510</a:t>
            </a:r>
          </a:p>
          <a:p>
            <a:pPr marL="0" indent="0">
              <a:buNone/>
            </a:pPr>
            <a:r>
              <a:rPr lang="en-IN" sz="2000" b="1" dirty="0">
                <a:latin typeface="Times New Roman" panose="02020603050405020304" pitchFamily="18" charset="0"/>
                <a:cs typeface="Times New Roman" panose="02020603050405020304" pitchFamily="18" charset="0"/>
              </a:rPr>
              <a:t>[10]</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Kanito</a:t>
            </a:r>
            <a:r>
              <a:rPr lang="en-IN" sz="2000" dirty="0">
                <a:latin typeface="Times New Roman" panose="02020603050405020304" pitchFamily="18" charset="0"/>
                <a:cs typeface="Times New Roman" panose="02020603050405020304" pitchFamily="18" charset="0"/>
              </a:rPr>
              <a:t>, D.; </a:t>
            </a:r>
            <a:r>
              <a:rPr lang="en-IN" sz="2000" dirty="0" err="1">
                <a:latin typeface="Times New Roman" panose="02020603050405020304" pitchFamily="18" charset="0"/>
                <a:cs typeface="Times New Roman" panose="02020603050405020304" pitchFamily="18" charset="0"/>
              </a:rPr>
              <a:t>Benaafi</a:t>
            </a:r>
            <a:r>
              <a:rPr lang="en-IN" sz="2000" dirty="0">
                <a:latin typeface="Times New Roman" panose="02020603050405020304" pitchFamily="18" charset="0"/>
                <a:cs typeface="Times New Roman" panose="02020603050405020304" pitchFamily="18" charset="0"/>
              </a:rPr>
              <a:t>, M.; </a:t>
            </a:r>
            <a:r>
              <a:rPr lang="en-IN" sz="2000" dirty="0" err="1">
                <a:latin typeface="Times New Roman" panose="02020603050405020304" pitchFamily="18" charset="0"/>
                <a:cs typeface="Times New Roman" panose="02020603050405020304" pitchFamily="18" charset="0"/>
              </a:rPr>
              <a:t>Baalousha</a:t>
            </a:r>
            <a:r>
              <a:rPr lang="en-IN" sz="2000" dirty="0">
                <a:latin typeface="Times New Roman" panose="02020603050405020304" pitchFamily="18" charset="0"/>
                <a:cs typeface="Times New Roman" panose="02020603050405020304" pitchFamily="18" charset="0"/>
              </a:rPr>
              <a:t>, H.M. Machine Learning Models for Groundwater Level Prediction and Uncertainty Analysis in </a:t>
            </a:r>
            <a:r>
              <a:rPr lang="en-IN" sz="2000" dirty="0" err="1">
                <a:latin typeface="Times New Roman" panose="02020603050405020304" pitchFamily="18" charset="0"/>
                <a:cs typeface="Times New Roman" panose="02020603050405020304" pitchFamily="18" charset="0"/>
              </a:rPr>
              <a:t>Ruataniwha</a:t>
            </a:r>
            <a:r>
              <a:rPr lang="en-IN" sz="2000" dirty="0">
                <a:latin typeface="Times New Roman" panose="02020603050405020304" pitchFamily="18" charset="0"/>
                <a:cs typeface="Times New Roman" panose="02020603050405020304" pitchFamily="18" charset="0"/>
              </a:rPr>
              <a:t> Basin, New Zealand. </a:t>
            </a:r>
            <a:r>
              <a:rPr lang="en-IN" sz="2000" i="1" dirty="0">
                <a:latin typeface="Times New Roman" panose="02020603050405020304" pitchFamily="18" charset="0"/>
                <a:cs typeface="Times New Roman" panose="02020603050405020304" pitchFamily="18" charset="0"/>
              </a:rPr>
              <a:t>Hydrology</a:t>
            </a:r>
            <a:r>
              <a:rPr lang="en-IN" sz="2000" dirty="0">
                <a:latin typeface="Times New Roman" panose="02020603050405020304" pitchFamily="18" charset="0"/>
                <a:cs typeface="Times New Roman" panose="02020603050405020304" pitchFamily="18" charset="0"/>
              </a:rPr>
              <a:t> 2025, </a:t>
            </a:r>
            <a:r>
              <a:rPr lang="en-IN" sz="2000" i="1" dirty="0">
                <a:latin typeface="Times New Roman" panose="02020603050405020304" pitchFamily="18" charset="0"/>
                <a:cs typeface="Times New Roman" panose="02020603050405020304" pitchFamily="18" charset="0"/>
              </a:rPr>
              <a:t>12</a:t>
            </a:r>
            <a:r>
              <a:rPr lang="en-IN" sz="2000" dirty="0">
                <a:latin typeface="Times New Roman" panose="02020603050405020304" pitchFamily="18" charset="0"/>
                <a:cs typeface="Times New Roman" panose="02020603050405020304" pitchFamily="18" charset="0"/>
              </a:rPr>
              <a:t>, 282. https://doi.org/10.3390/hydrology12110282</a:t>
            </a:r>
          </a:p>
          <a:p>
            <a:pPr marL="0" indent="0">
              <a:buNone/>
            </a:pPr>
            <a:r>
              <a:rPr lang="en-IN" sz="2000" b="1" dirty="0">
                <a:latin typeface="Times New Roman" panose="02020603050405020304" pitchFamily="18" charset="0"/>
                <a:cs typeface="Times New Roman" panose="02020603050405020304" pitchFamily="18" charset="0"/>
              </a:rPr>
              <a:t>[11] </a:t>
            </a:r>
            <a:r>
              <a:rPr lang="en-IN" sz="2000" dirty="0">
                <a:latin typeface="Times New Roman" panose="02020603050405020304" pitchFamily="18" charset="0"/>
                <a:cs typeface="Times New Roman" panose="02020603050405020304" pitchFamily="18" charset="0"/>
              </a:rPr>
              <a:t>Lundberg, Scott M., and Su-In Lee. "A unified approach to interpreting model predictions." </a:t>
            </a:r>
            <a:r>
              <a:rPr lang="en-IN" sz="2000" i="1" dirty="0">
                <a:latin typeface="Times New Roman" panose="02020603050405020304" pitchFamily="18" charset="0"/>
                <a:cs typeface="Times New Roman" panose="02020603050405020304" pitchFamily="18" charset="0"/>
              </a:rPr>
              <a:t>Advances in neural information processing systems</a:t>
            </a:r>
            <a:r>
              <a:rPr lang="en-IN" sz="2000" dirty="0">
                <a:latin typeface="Times New Roman" panose="02020603050405020304" pitchFamily="18" charset="0"/>
                <a:cs typeface="Times New Roman" panose="02020603050405020304" pitchFamily="18" charset="0"/>
              </a:rPr>
              <a:t> 30 (2017).</a:t>
            </a:r>
          </a:p>
          <a:p>
            <a:pPr marL="0" indent="0">
              <a:buNone/>
            </a:pPr>
            <a:r>
              <a:rPr lang="en-IN" sz="2000" b="1" dirty="0">
                <a:latin typeface="Times New Roman" panose="02020603050405020304" pitchFamily="18" charset="0"/>
                <a:cs typeface="Times New Roman" panose="02020603050405020304" pitchFamily="18" charset="0"/>
              </a:rPr>
              <a:t>[12]</a:t>
            </a:r>
            <a:r>
              <a:rPr lang="en-IN" sz="2000" dirty="0">
                <a:latin typeface="Times New Roman" panose="02020603050405020304" pitchFamily="18" charset="0"/>
                <a:cs typeface="Times New Roman" panose="02020603050405020304" pitchFamily="18" charset="0"/>
              </a:rPr>
              <a:t> Pak, B., Chua, A., &amp; Vande </a:t>
            </a:r>
            <a:r>
              <a:rPr lang="en-IN" sz="2000" dirty="0" err="1">
                <a:latin typeface="Times New Roman" panose="02020603050405020304" pitchFamily="18" charset="0"/>
                <a:cs typeface="Times New Roman" panose="02020603050405020304" pitchFamily="18" charset="0"/>
              </a:rPr>
              <a:t>Moere</a:t>
            </a:r>
            <a:r>
              <a:rPr lang="en-IN" sz="2000" dirty="0">
                <a:latin typeface="Times New Roman" panose="02020603050405020304" pitchFamily="18" charset="0"/>
                <a:cs typeface="Times New Roman" panose="02020603050405020304" pitchFamily="18" charset="0"/>
              </a:rPr>
              <a:t>, A. (2017). </a:t>
            </a:r>
            <a:r>
              <a:rPr lang="en-IN" sz="2000" dirty="0" err="1">
                <a:latin typeface="Times New Roman" panose="02020603050405020304" pitchFamily="18" charset="0"/>
                <a:cs typeface="Times New Roman" panose="02020603050405020304" pitchFamily="18" charset="0"/>
              </a:rPr>
              <a:t>FixMyStreet</a:t>
            </a:r>
            <a:r>
              <a:rPr lang="en-IN" sz="2000" dirty="0">
                <a:latin typeface="Times New Roman" panose="02020603050405020304" pitchFamily="18" charset="0"/>
                <a:cs typeface="Times New Roman" panose="02020603050405020304" pitchFamily="18" charset="0"/>
              </a:rPr>
              <a:t> Brussels: socio-demographic inequality in crowdsourced civic participation. </a:t>
            </a:r>
            <a:r>
              <a:rPr lang="en-IN" sz="2000" i="1" dirty="0">
                <a:latin typeface="Times New Roman" panose="02020603050405020304" pitchFamily="18" charset="0"/>
                <a:cs typeface="Times New Roman" panose="02020603050405020304" pitchFamily="18" charset="0"/>
              </a:rPr>
              <a:t>Journal of Urban Technology</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24</a:t>
            </a:r>
            <a:r>
              <a:rPr lang="en-IN" sz="2000" dirty="0">
                <a:latin typeface="Times New Roman" panose="02020603050405020304" pitchFamily="18" charset="0"/>
                <a:cs typeface="Times New Roman" panose="02020603050405020304" pitchFamily="18" charset="0"/>
              </a:rPr>
              <a:t>(2), 65-87.</a:t>
            </a:r>
          </a:p>
        </p:txBody>
      </p:sp>
    </p:spTree>
    <p:extLst>
      <p:ext uri="{BB962C8B-B14F-4D97-AF65-F5344CB8AC3E}">
        <p14:creationId xmlns:p14="http://schemas.microsoft.com/office/powerpoint/2010/main" val="1536028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AB4A02-B973-F595-AB30-5C9A00D4EBD9}"/>
              </a:ext>
            </a:extLst>
          </p:cNvPr>
          <p:cNvSpPr>
            <a:spLocks noGrp="1"/>
          </p:cNvSpPr>
          <p:nvPr>
            <p:ph type="title"/>
          </p:nvPr>
        </p:nvSpPr>
        <p:spPr>
          <a:xfrm>
            <a:off x="555458" y="718052"/>
            <a:ext cx="11081084" cy="5241590"/>
          </a:xfrm>
        </p:spPr>
        <p:txBody>
          <a:bodyPr>
            <a:noAutofit/>
          </a:bodyPr>
          <a:lstStyle/>
          <a:p>
            <a:r>
              <a:rPr lang="en-IN" sz="2000" b="1" dirty="0">
                <a:latin typeface="Times New Roman" panose="02020603050405020304" pitchFamily="18" charset="0"/>
                <a:cs typeface="Times New Roman" panose="02020603050405020304" pitchFamily="18" charset="0"/>
              </a:rPr>
              <a:t>[13]</a:t>
            </a:r>
            <a:r>
              <a:rPr lang="en-IN" sz="2000" dirty="0">
                <a:latin typeface="Times New Roman" panose="02020603050405020304" pitchFamily="18" charset="0"/>
                <a:cs typeface="Times New Roman" panose="02020603050405020304" pitchFamily="18" charset="0"/>
              </a:rPr>
              <a:t> Matthews, P., Parsons, A., </a:t>
            </a:r>
            <a:r>
              <a:rPr lang="en-IN" sz="2000" dirty="0" err="1">
                <a:latin typeface="Times New Roman" panose="02020603050405020304" pitchFamily="18" charset="0"/>
                <a:cs typeface="Times New Roman" panose="02020603050405020304" pitchFamily="18" charset="0"/>
              </a:rPr>
              <a:t>Nyanzu</a:t>
            </a:r>
            <a:r>
              <a:rPr lang="en-IN" sz="2000" dirty="0">
                <a:latin typeface="Times New Roman" panose="02020603050405020304" pitchFamily="18" charset="0"/>
                <a:cs typeface="Times New Roman" panose="02020603050405020304" pitchFamily="18" charset="0"/>
              </a:rPr>
              <a:t>, E., &amp; Rae, A. (2023). Dog fouling and potholes: understanding the role of coproducing ‘citizen sensors’ in local governance. </a:t>
            </a:r>
            <a:r>
              <a:rPr lang="en-IN" sz="2000" i="1" dirty="0">
                <a:latin typeface="Times New Roman" panose="02020603050405020304" pitchFamily="18" charset="0"/>
                <a:cs typeface="Times New Roman" panose="02020603050405020304" pitchFamily="18" charset="0"/>
              </a:rPr>
              <a:t>Local Government Studies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49</a:t>
            </a:r>
            <a:r>
              <a:rPr lang="en-IN" sz="2000" dirty="0">
                <a:latin typeface="Times New Roman" panose="02020603050405020304" pitchFamily="18" charset="0"/>
                <a:cs typeface="Times New Roman" panose="02020603050405020304" pitchFamily="18" charset="0"/>
              </a:rPr>
              <a:t>(5), 908–931. </a:t>
            </a:r>
            <a:r>
              <a:rPr lang="en-IN" sz="2000" dirty="0">
                <a:latin typeface="Times New Roman" panose="02020603050405020304" pitchFamily="18" charset="0"/>
                <a:cs typeface="Times New Roman" panose="02020603050405020304" pitchFamily="18" charset="0"/>
                <a:hlinkClick r:id="rId2"/>
              </a:rPr>
              <a:t>https://doi.org/10.1080/03003930.2022.2116575</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[14]</a:t>
            </a:r>
            <a:r>
              <a:rPr lang="en-IN" sz="2000" dirty="0">
                <a:latin typeface="Times New Roman" panose="02020603050405020304" pitchFamily="18" charset="0"/>
                <a:cs typeface="Times New Roman" panose="02020603050405020304" pitchFamily="18" charset="0"/>
              </a:rPr>
              <a:t> Salcedo, E., Jaber, M., &amp; Requena Carrión, J. (2022). A Novel Road Maintenance Prioritisation System Based on Computer Vision and Crowdsourced Reporting. </a:t>
            </a:r>
            <a:r>
              <a:rPr lang="en-IN" sz="2000" i="1" dirty="0">
                <a:latin typeface="Times New Roman" panose="02020603050405020304" pitchFamily="18" charset="0"/>
                <a:cs typeface="Times New Roman" panose="02020603050405020304" pitchFamily="18" charset="0"/>
              </a:rPr>
              <a:t>Journal of Sensor and Actuator Networks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11</a:t>
            </a:r>
            <a:r>
              <a:rPr lang="en-IN" sz="2000" dirty="0">
                <a:latin typeface="Times New Roman" panose="02020603050405020304" pitchFamily="18" charset="0"/>
                <a:cs typeface="Times New Roman" panose="02020603050405020304" pitchFamily="18" charset="0"/>
              </a:rPr>
              <a:t>(1), 15. </a:t>
            </a:r>
            <a:r>
              <a:rPr lang="en-IN" sz="2000" dirty="0">
                <a:latin typeface="Times New Roman" panose="02020603050405020304" pitchFamily="18" charset="0"/>
                <a:cs typeface="Times New Roman" panose="02020603050405020304" pitchFamily="18" charset="0"/>
                <a:hlinkClick r:id="rId3"/>
              </a:rPr>
              <a:t>https://doi.org/10.3390/jsan11010015</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[15]</a:t>
            </a:r>
            <a:r>
              <a:rPr lang="en-IN" sz="2000" dirty="0">
                <a:latin typeface="Times New Roman" panose="02020603050405020304" pitchFamily="18" charset="0"/>
                <a:cs typeface="Times New Roman" panose="02020603050405020304" pitchFamily="18" charset="0"/>
              </a:rPr>
              <a:t> Wang, Z., Wu, X., &amp; Wu, Y. (2023). A spatiotemporal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model for PM2.5 concentration prediction and its application in Shanghai. </a:t>
            </a:r>
            <a:r>
              <a:rPr lang="en-IN" sz="2000" i="1" dirty="0" err="1">
                <a:latin typeface="Times New Roman" panose="02020603050405020304" pitchFamily="18" charset="0"/>
                <a:cs typeface="Times New Roman" panose="02020603050405020304" pitchFamily="18" charset="0"/>
              </a:rPr>
              <a:t>Heliyon</a:t>
            </a:r>
            <a:r>
              <a:rPr lang="en-IN" sz="2000" i="1" dirty="0">
                <a:latin typeface="Times New Roman" panose="02020603050405020304" pitchFamily="18" charset="0"/>
                <a:cs typeface="Times New Roman" panose="02020603050405020304" pitchFamily="18" charset="0"/>
              </a:rPr>
              <a:t>, 9</a:t>
            </a:r>
            <a:r>
              <a:rPr lang="en-IN" sz="2000" dirty="0">
                <a:latin typeface="Times New Roman" panose="02020603050405020304" pitchFamily="18" charset="0"/>
                <a:cs typeface="Times New Roman" panose="02020603050405020304" pitchFamily="18" charset="0"/>
              </a:rPr>
              <a:t>(12), e22569. </a:t>
            </a:r>
            <a:r>
              <a:rPr lang="en-IN" sz="2000" dirty="0">
                <a:latin typeface="Times New Roman" panose="02020603050405020304" pitchFamily="18" charset="0"/>
                <a:cs typeface="Times New Roman" panose="02020603050405020304" pitchFamily="18" charset="0"/>
                <a:hlinkClick r:id="rId4"/>
              </a:rPr>
              <a:t>https://doi.org/10.1016/j.heliyon.2023.e22569</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[16]</a:t>
            </a:r>
            <a:r>
              <a:rPr lang="en-IN" sz="2000" dirty="0">
                <a:latin typeface="Times New Roman" panose="02020603050405020304" pitchFamily="18" charset="0"/>
                <a:cs typeface="Times New Roman" panose="02020603050405020304" pitchFamily="18" charset="0"/>
              </a:rPr>
              <a:t> Gokul, P. R., Mathew, A., Bhosale, A., &amp; Nair, A. T. (2023).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air quality analysis and PM2.5 prediction over Hyderabad City, India using artificial intelligence techniques. </a:t>
            </a:r>
            <a:r>
              <a:rPr lang="en-IN" sz="2000" i="1" dirty="0">
                <a:latin typeface="Times New Roman" panose="02020603050405020304" pitchFamily="18" charset="0"/>
                <a:cs typeface="Times New Roman" panose="02020603050405020304" pitchFamily="18" charset="0"/>
              </a:rPr>
              <a:t>Ecological Informatics, 76</a:t>
            </a:r>
            <a:r>
              <a:rPr lang="en-IN" sz="2000" dirty="0">
                <a:latin typeface="Times New Roman" panose="02020603050405020304" pitchFamily="18" charset="0"/>
                <a:cs typeface="Times New Roman" panose="02020603050405020304" pitchFamily="18" charset="0"/>
              </a:rPr>
              <a:t>, 102067. https://doi.org/10.1016/j.ecoinf.2023.102067</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2125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0C99B-59F7-DE7F-3C1D-1C6A97F0C7DD}"/>
              </a:ext>
            </a:extLst>
          </p:cNvPr>
          <p:cNvSpPr>
            <a:spLocks noGrp="1"/>
          </p:cNvSpPr>
          <p:nvPr>
            <p:ph type="title"/>
          </p:nvPr>
        </p:nvSpPr>
        <p:spPr>
          <a:xfrm>
            <a:off x="343929" y="2700315"/>
            <a:ext cx="10515600" cy="1325563"/>
          </a:xfrm>
        </p:spPr>
        <p:txBody>
          <a:bodyPr/>
          <a:lstStyle/>
          <a:p>
            <a:r>
              <a:rPr lang="en-US" dirty="0"/>
              <a:t>                              </a:t>
            </a:r>
            <a:r>
              <a:rPr lang="en-US" b="1" dirty="0">
                <a:latin typeface="Times New Roman" panose="02020603050405020304" pitchFamily="18" charset="0"/>
                <a:cs typeface="Times New Roman" panose="02020603050405020304" pitchFamily="18" charset="0"/>
              </a:rPr>
              <a:t>THANK YOU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0087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5458</TotalTime>
  <Words>2719</Words>
  <Application>Microsoft Office PowerPoint</Application>
  <PresentationFormat>Widescreen</PresentationFormat>
  <Paragraphs>258</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 GOKARAJU RANGARAJU INSTITUTE OF ENGINEERING AND TECHNOLOGY Department of Computer Science and Engineering  Major Project Review-2 </vt:lpstr>
      <vt:lpstr>Project Overview &amp; Objectives </vt:lpstr>
      <vt:lpstr>PowerPoint Presentation</vt:lpstr>
      <vt:lpstr>Introduction &amp; Motivation</vt:lpstr>
      <vt:lpstr>Literature Survey Overview</vt:lpstr>
      <vt:lpstr>PowerPoint Presentation</vt:lpstr>
      <vt:lpstr>Key Mechanisms &amp; Methodologies</vt:lpstr>
      <vt:lpstr>PowerPoint Presentation</vt:lpstr>
      <vt:lpstr>Comparative Analysis</vt:lpstr>
      <vt:lpstr>PowerPoint Presentation</vt:lpstr>
      <vt:lpstr>Identified Research Gaps </vt:lpstr>
      <vt:lpstr>PROPOSED SOLUTION </vt:lpstr>
      <vt:lpstr>PowerPoint Presentation</vt:lpstr>
      <vt:lpstr>System Architecture</vt:lpstr>
      <vt:lpstr>System Requirements</vt:lpstr>
      <vt:lpstr>Design Methodology</vt:lpstr>
      <vt:lpstr>PowerPoint Presentation</vt:lpstr>
      <vt:lpstr>Process Logic</vt:lpstr>
      <vt:lpstr>Activity Diagram </vt:lpstr>
      <vt:lpstr>PowerPoint Presentation</vt:lpstr>
      <vt:lpstr>Implementation &amp; Status</vt:lpstr>
      <vt:lpstr>PowerPoint Presentation</vt:lpstr>
      <vt:lpstr>REFERENCES</vt:lpstr>
      <vt:lpstr>PowerPoint Presentation</vt:lpstr>
      <vt:lpstr>[13] Matthews, P., Parsons, A., Nyanzu, E., &amp; Rae, A. (2023). Dog fouling and potholes: understanding the role of coproducing ‘citizen sensors’ in local governance. Local Government Studies, 49(5), 908–931. https://doi.org/10.1080/03003930.2022.2116575  [14] Salcedo, E., Jaber, M., &amp; Requena Carrión, J. (2022). A Novel Road Maintenance Prioritisation System Based on Computer Vision and Crowdsourced Reporting. Journal of Sensor and Actuator Networks, 11(1), 15. https://doi.org/10.3390/jsan11010015  [15] Wang, Z., Wu, X., &amp; Wu, Y. (2023). A spatiotemporal XGBoost model for PM2.5 concentration prediction and its application in Shanghai. Heliyon, 9(12), e22569. https://doi.org/10.1016/j.heliyon.2023.e22569  [16] Gokul, P. R., Mathew, A., Bhosale, A., &amp; Nair, A. T. (2023). Spatio-temporal air quality analysis and PM2.5 prediction over Hyderabad City, India using artificial intelligence techniques. Ecological Informatics, 76, 102067. https://doi.org/10.1016/j.ecoinf.2023.102067    </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GOKARAJU RANGARAJU INSTITUTE OF ENGINEERING AND TECHNOLOGY Department of Computer Science and Engineering  RTRP/SRP Review-0</dc:title>
  <dc:creator>hp</dc:creator>
  <cp:lastModifiedBy>Shaik Asharaf</cp:lastModifiedBy>
  <cp:revision>51</cp:revision>
  <dcterms:created xsi:type="dcterms:W3CDTF">2024-03-13T07:24:06Z</dcterms:created>
  <dcterms:modified xsi:type="dcterms:W3CDTF">2026-08-31T01:05:02Z</dcterms:modified>
</cp:coreProperties>
</file>